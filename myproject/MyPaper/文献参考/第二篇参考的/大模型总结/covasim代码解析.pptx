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C356A-84D3-4C48-8AF5-FBDBF222C126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1CAC0-5601-444E-86E0-C38CF6F474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6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1CAC0-5601-444E-86E0-C38CF6F474D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4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DF85C-4127-FEE6-BF25-95F5BA312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CBECF5-E3F6-D4B6-B506-D3CB9FEF2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60863-D95E-4AAF-3E56-790FBB24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02F15-6141-D45A-AC76-75D99883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3D374-D2E0-AC84-F69A-59A9D898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1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12102-3374-BC62-D191-460E610E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DB06F8-20B7-3447-F449-D2201BD13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BCE3FB-4DA8-5319-D7B3-6F16BBD1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FF3A3F-875D-82D9-8F9F-F85C46DD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68C88-8B63-0170-1D1E-BBAE5079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96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C5C3E-D9A1-08F2-A9CC-047E1E8A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B676AC-4923-C913-891F-C0BD9907E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F29C2-359E-2BCD-D893-F58D88B5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EF6516-81F9-51E8-4BD3-606C6BD7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31C77-602D-082C-681D-44649328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277DF-694E-B1B6-1FDF-00D6431B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2FA16-4EC7-9405-2CFB-A6E95EEDE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43DCD-15D6-1B2C-F601-F33E08D5A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040A6D-6A7C-084C-1645-B5DDB455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069F73-E7EC-C80D-CAA4-00F4061B2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F7684F-AEBF-82D9-8019-B1E3641F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2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1DA12-D94A-AE45-5BA9-C018AB69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7EFB88-6AA9-4BD6-FD81-635A1D48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6A0D1-CB66-0D67-0DF6-E4B3082A9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A6E241-285A-3549-A30C-A2A767244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6416A6-9BEE-B965-4D03-5434BCF0A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CC385A-6EFE-7456-3FEA-1DDEDF71F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5F497E-6728-FD12-9200-4C1B9985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ED85BE-718C-C0E0-A97E-66F250E6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50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57E96-9B18-C080-1AF4-DF1568F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7B1625-F520-5F8A-D079-705F0DD5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DAE561-6D37-3E2B-39A3-F3DF6D05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801BC1-FCF4-4A26-C67F-79CC4DEB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3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C30A17-6923-ECA2-2A39-5789F356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9F88B0-D809-8F8B-C305-1309BE0C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46C6CB-E150-0F96-1FCC-8EE407DF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08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4AEDB-0349-111E-EDD1-BF653AF3B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693D3-EBD2-BB9F-73C4-1C3227745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05EB52-DF26-84E0-41CC-BF11BD2BB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A9D17-AB6C-8FB8-19A8-CC125490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4E4212-5D09-52BB-E3F6-E295CB1E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C44DC-C558-674C-97DE-858D0EEB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5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344CA-30C0-1B65-6531-D62C6B45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BB922D-89B8-19FC-A8B3-6D3169643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2855B6-E7F4-CA26-3062-0D4E3926E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24F6A9-8FBE-31C8-65D7-5EBCF252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83F059-E85C-EB52-E184-8E9EF884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397327-F679-7008-9767-AA93323D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34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4861B-8822-74AA-460F-8557EBAB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B513F6-4812-E37C-6E11-4C816EEBB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BB1F4-EFE4-47EB-F0D5-51A35C2F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C5DF3-E65F-6397-4846-C4C3EF06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D4D93-ED9D-DBA0-6EBB-1350BEAE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6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D19A11-CEA5-84DD-FF86-41C397EC1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066E-FB7C-9F19-DDC1-F1B4BAEFE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C82AE-5E13-D270-297E-B2C61B7B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EE3FE2-1BF5-4333-6987-B2CD83B4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F3C9B-0A77-0946-05D1-E7F21CBD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74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5453EE-D773-0D55-EC8A-D6F123A9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7872A3-5EC2-2E2C-1A94-528277F87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9EE1DC-7CFF-7AEF-46F6-99B04C773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74947-91B7-4BE4-BA36-027899FA6455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06EB-0599-9E0A-80DC-866B92449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354D1-FF28-A963-A4C6-035C01C64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6F66F-F442-400C-86CC-5922E4AF4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6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55DBC62-0C0F-E32C-F3F8-C6EA26DB7D97}"/>
              </a:ext>
            </a:extLst>
          </p:cNvPr>
          <p:cNvSpPr/>
          <p:nvPr/>
        </p:nvSpPr>
        <p:spPr>
          <a:xfrm>
            <a:off x="224119" y="170329"/>
            <a:ext cx="2500031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Covasim</a:t>
            </a:r>
            <a:r>
              <a:rPr lang="zh-CN" altLang="en-US" dirty="0">
                <a:solidFill>
                  <a:schemeClr val="tx1"/>
                </a:solidFill>
              </a:rPr>
              <a:t>模型逻辑流程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2B3F53-21EC-34AA-2853-FFF7A467E8FB}"/>
              </a:ext>
            </a:extLst>
          </p:cNvPr>
          <p:cNvSpPr/>
          <p:nvPr/>
        </p:nvSpPr>
        <p:spPr>
          <a:xfrm>
            <a:off x="2314014" y="2232349"/>
            <a:ext cx="1800225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创建仿真对象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0E5103-F2A8-9EEC-CF79-BD3D5A3AC87A}"/>
              </a:ext>
            </a:extLst>
          </p:cNvPr>
          <p:cNvSpPr/>
          <p:nvPr/>
        </p:nvSpPr>
        <p:spPr>
          <a:xfrm>
            <a:off x="5514413" y="2235707"/>
            <a:ext cx="1666875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创建代理群体</a:t>
            </a:r>
          </a:p>
        </p:txBody>
      </p:sp>
      <p:sp>
        <p:nvSpPr>
          <p:cNvPr id="8" name="标注: 下箭头 7">
            <a:extLst>
              <a:ext uri="{FF2B5EF4-FFF2-40B4-BE49-F238E27FC236}">
                <a16:creationId xmlns:a16="http://schemas.microsoft.com/office/drawing/2014/main" id="{824429D1-957E-35E5-95AD-8B78185694AB}"/>
              </a:ext>
            </a:extLst>
          </p:cNvPr>
          <p:cNvSpPr/>
          <p:nvPr/>
        </p:nvSpPr>
        <p:spPr>
          <a:xfrm>
            <a:off x="1766325" y="1642358"/>
            <a:ext cx="2895602" cy="589989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加载参数、加载数据文件</a:t>
            </a:r>
          </a:p>
          <a:p>
            <a:pPr algn="ctr"/>
            <a:endParaRPr lang="zh-CN" altLang="en-US" dirty="0"/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A26D8C1B-A3E6-AF4B-5ABE-74E70013AB78}"/>
              </a:ext>
            </a:extLst>
          </p:cNvPr>
          <p:cNvSpPr/>
          <p:nvPr/>
        </p:nvSpPr>
        <p:spPr>
          <a:xfrm>
            <a:off x="5190563" y="1642359"/>
            <a:ext cx="2314577" cy="589989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年龄、性别和合并症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7AE6CF-D0ED-8E64-ABC4-76C50C295EF6}"/>
              </a:ext>
            </a:extLst>
          </p:cNvPr>
          <p:cNvSpPr/>
          <p:nvPr/>
        </p:nvSpPr>
        <p:spPr>
          <a:xfrm>
            <a:off x="8454465" y="2232349"/>
            <a:ext cx="2314576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将其连接到联系网络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标注: 下箭头 10">
            <a:extLst>
              <a:ext uri="{FF2B5EF4-FFF2-40B4-BE49-F238E27FC236}">
                <a16:creationId xmlns:a16="http://schemas.microsoft.com/office/drawing/2014/main" id="{1209EA8D-441D-BF4F-458A-A81BC268A470}"/>
              </a:ext>
            </a:extLst>
          </p:cNvPr>
          <p:cNvSpPr/>
          <p:nvPr/>
        </p:nvSpPr>
        <p:spPr>
          <a:xfrm>
            <a:off x="8487799" y="1642358"/>
            <a:ext cx="2314577" cy="589989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根据年龄和其他属性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580894-8FCF-9016-27FF-B4886E979BE6}"/>
              </a:ext>
            </a:extLst>
          </p:cNvPr>
          <p:cNvSpPr/>
          <p:nvPr/>
        </p:nvSpPr>
        <p:spPr>
          <a:xfrm>
            <a:off x="1835240" y="3871926"/>
            <a:ext cx="1800225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动态重新缩放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3C2439-57ED-A7E8-FD60-1E772F8E1A94}"/>
              </a:ext>
            </a:extLst>
          </p:cNvPr>
          <p:cNvSpPr/>
          <p:nvPr/>
        </p:nvSpPr>
        <p:spPr>
          <a:xfrm>
            <a:off x="4183153" y="3871926"/>
            <a:ext cx="2119313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应用卫生系统限制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CDDF81-E686-07BD-D60A-A396F021D131}"/>
              </a:ext>
            </a:extLst>
          </p:cNvPr>
          <p:cNvSpPr/>
          <p:nvPr/>
        </p:nvSpPr>
        <p:spPr>
          <a:xfrm>
            <a:off x="6854915" y="3776397"/>
            <a:ext cx="2119313" cy="589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更新每种药物的状态、疾病进展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7D04FD-E5D5-8DC6-E1EF-DF59A3DC2483}"/>
              </a:ext>
            </a:extLst>
          </p:cNvPr>
          <p:cNvSpPr/>
          <p:nvPr/>
        </p:nvSpPr>
        <p:spPr>
          <a:xfrm>
            <a:off x="9618755" y="3871925"/>
            <a:ext cx="1343024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导入事件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738CE-295C-1FDA-2E19-1340799655AF}"/>
              </a:ext>
            </a:extLst>
          </p:cNvPr>
          <p:cNvSpPr/>
          <p:nvPr/>
        </p:nvSpPr>
        <p:spPr>
          <a:xfrm>
            <a:off x="2093258" y="4773144"/>
            <a:ext cx="1800225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应用干预措施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63C6C7-2E62-CC94-7A9D-D883C6BA837E}"/>
              </a:ext>
            </a:extLst>
          </p:cNvPr>
          <p:cNvSpPr/>
          <p:nvPr/>
        </p:nvSpPr>
        <p:spPr>
          <a:xfrm>
            <a:off x="4396067" y="4667261"/>
            <a:ext cx="2119313" cy="797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计算每个传染源联系网络中的疾病传播事件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71F7AC-CDC3-0419-DF41-85E78688F4B0}"/>
              </a:ext>
            </a:extLst>
          </p:cNvPr>
          <p:cNvSpPr/>
          <p:nvPr/>
        </p:nvSpPr>
        <p:spPr>
          <a:xfrm>
            <a:off x="7061850" y="4730005"/>
            <a:ext cx="2119313" cy="589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将输出整理成结果数组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F1DEE3-BD2A-2585-B372-262B4E988E12}"/>
              </a:ext>
            </a:extLst>
          </p:cNvPr>
          <p:cNvSpPr/>
          <p:nvPr/>
        </p:nvSpPr>
        <p:spPr>
          <a:xfrm>
            <a:off x="9762706" y="4782671"/>
            <a:ext cx="1657348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202020"/>
                </a:solidFill>
                <a:effectLst/>
                <a:latin typeface="Helvetica" panose="020B0604020202020204" pitchFamily="34" charset="0"/>
              </a:rPr>
              <a:t>应用分析器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379B4E-1D0F-DFA3-7666-32EB895FC1F6}"/>
              </a:ext>
            </a:extLst>
          </p:cNvPr>
          <p:cNvSpPr/>
          <p:nvPr/>
        </p:nvSpPr>
        <p:spPr>
          <a:xfrm>
            <a:off x="221739" y="2214566"/>
            <a:ext cx="1233206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准备部分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C51FF9-9ABE-827F-60EE-1943448CC403}"/>
              </a:ext>
            </a:extLst>
          </p:cNvPr>
          <p:cNvSpPr/>
          <p:nvPr/>
        </p:nvSpPr>
        <p:spPr>
          <a:xfrm>
            <a:off x="240928" y="4258803"/>
            <a:ext cx="1233206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模拟部分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AB4DF201-E6A1-BF60-E1D3-5A338A15F74C}"/>
              </a:ext>
            </a:extLst>
          </p:cNvPr>
          <p:cNvSpPr/>
          <p:nvPr/>
        </p:nvSpPr>
        <p:spPr>
          <a:xfrm>
            <a:off x="4190440" y="2402950"/>
            <a:ext cx="1190625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BAB1F9E7-2B49-57A0-BC44-FF537897D8D3}"/>
              </a:ext>
            </a:extLst>
          </p:cNvPr>
          <p:cNvSpPr/>
          <p:nvPr/>
        </p:nvSpPr>
        <p:spPr>
          <a:xfrm>
            <a:off x="7247963" y="2402950"/>
            <a:ext cx="114538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FCE9FD7-55C0-422D-AB4A-B7490E0F101C}"/>
              </a:ext>
            </a:extLst>
          </p:cNvPr>
          <p:cNvSpPr/>
          <p:nvPr/>
        </p:nvSpPr>
        <p:spPr>
          <a:xfrm>
            <a:off x="3656897" y="4042528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64DE303-7769-45F8-711A-D2FFD922F347}"/>
              </a:ext>
            </a:extLst>
          </p:cNvPr>
          <p:cNvSpPr/>
          <p:nvPr/>
        </p:nvSpPr>
        <p:spPr>
          <a:xfrm>
            <a:off x="6311992" y="4042528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E375CC30-90BB-BEF7-2625-B83BC708C294}"/>
              </a:ext>
            </a:extLst>
          </p:cNvPr>
          <p:cNvSpPr/>
          <p:nvPr/>
        </p:nvSpPr>
        <p:spPr>
          <a:xfrm>
            <a:off x="9021853" y="4042528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58FA7D3A-E032-CCE5-33E8-94DEF90284F8}"/>
              </a:ext>
            </a:extLst>
          </p:cNvPr>
          <p:cNvSpPr/>
          <p:nvPr/>
        </p:nvSpPr>
        <p:spPr>
          <a:xfrm>
            <a:off x="1528902" y="4920219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E1243BBB-285E-F2A9-57D4-11668B3E5B4D}"/>
              </a:ext>
            </a:extLst>
          </p:cNvPr>
          <p:cNvSpPr/>
          <p:nvPr/>
        </p:nvSpPr>
        <p:spPr>
          <a:xfrm>
            <a:off x="3896004" y="4970087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4E031A44-C57C-A9A6-38C1-BB605FD797AE}"/>
              </a:ext>
            </a:extLst>
          </p:cNvPr>
          <p:cNvSpPr/>
          <p:nvPr/>
        </p:nvSpPr>
        <p:spPr>
          <a:xfrm>
            <a:off x="6534007" y="5006789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57FBC824-7DA0-5D36-1FBA-EC9400FDF564}"/>
              </a:ext>
            </a:extLst>
          </p:cNvPr>
          <p:cNvSpPr/>
          <p:nvPr/>
        </p:nvSpPr>
        <p:spPr>
          <a:xfrm>
            <a:off x="9208943" y="4975971"/>
            <a:ext cx="500063" cy="15408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450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88532D7-311D-7738-D27F-9EBCC0D7CFF8}"/>
              </a:ext>
            </a:extLst>
          </p:cNvPr>
          <p:cNvSpPr/>
          <p:nvPr/>
        </p:nvSpPr>
        <p:spPr>
          <a:xfrm>
            <a:off x="224119" y="170329"/>
            <a:ext cx="2250141" cy="448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Covasim</a:t>
            </a:r>
            <a:r>
              <a:rPr lang="zh-CN" altLang="en-US" dirty="0">
                <a:solidFill>
                  <a:schemeClr val="tx1"/>
                </a:solidFill>
              </a:rPr>
              <a:t>代码结构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19A565-F3DB-F0A9-29D5-B48A37F70D1A}"/>
              </a:ext>
            </a:extLst>
          </p:cNvPr>
          <p:cNvSpPr/>
          <p:nvPr/>
        </p:nvSpPr>
        <p:spPr>
          <a:xfrm>
            <a:off x="224119" y="887506"/>
            <a:ext cx="1362634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Version.py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FF5F34-4ACC-71AF-54B9-E7806CAE606F}"/>
              </a:ext>
            </a:extLst>
          </p:cNvPr>
          <p:cNvSpPr txBox="1"/>
          <p:nvPr/>
        </p:nvSpPr>
        <p:spPr>
          <a:xfrm>
            <a:off x="1748117" y="926957"/>
            <a:ext cx="3496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控制版本、日期以及许可证信息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910C0F-D19D-0070-06DF-E2CC09A71503}"/>
              </a:ext>
            </a:extLst>
          </p:cNvPr>
          <p:cNvSpPr/>
          <p:nvPr/>
        </p:nvSpPr>
        <p:spPr>
          <a:xfrm>
            <a:off x="224118" y="1604683"/>
            <a:ext cx="1855693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requirements.py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AD36B5-076D-1FE9-F48C-68699C9F908C}"/>
              </a:ext>
            </a:extLst>
          </p:cNvPr>
          <p:cNvSpPr txBox="1"/>
          <p:nvPr/>
        </p:nvSpPr>
        <p:spPr>
          <a:xfrm>
            <a:off x="2241175" y="1644134"/>
            <a:ext cx="869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检查是否安装了每个库的正确版本</a:t>
            </a:r>
            <a:r>
              <a:rPr lang="en-US" altLang="zh-CN" dirty="0"/>
              <a:t>(</a:t>
            </a:r>
            <a:r>
              <a:rPr lang="en-US" altLang="zh-CN" dirty="0" err="1"/>
              <a:t>sciris</a:t>
            </a:r>
            <a:r>
              <a:rPr lang="zh-CN" altLang="en-US" dirty="0"/>
              <a:t>和</a:t>
            </a:r>
            <a:r>
              <a:rPr lang="en-US" altLang="zh-CN" dirty="0" err="1"/>
              <a:t>synthpops</a:t>
            </a:r>
            <a:r>
              <a:rPr lang="zh-CN" altLang="en-US" dirty="0"/>
              <a:t>库</a:t>
            </a:r>
            <a:r>
              <a:rPr lang="en-US" altLang="zh-CN" dirty="0"/>
              <a:t>)</a:t>
            </a:r>
            <a:r>
              <a:rPr lang="zh-CN" altLang="en-US" dirty="0"/>
              <a:t>，并打印警告否则就是错误。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B523143-C2A9-E76D-DA22-EF917B5CB122}"/>
              </a:ext>
            </a:extLst>
          </p:cNvPr>
          <p:cNvSpPr/>
          <p:nvPr/>
        </p:nvSpPr>
        <p:spPr>
          <a:xfrm>
            <a:off x="224118" y="2361312"/>
            <a:ext cx="986118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utils.py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83F04E-0124-60D3-8E6C-592FCBF084FD}"/>
              </a:ext>
            </a:extLst>
          </p:cNvPr>
          <p:cNvSpPr txBox="1"/>
          <p:nvPr/>
        </p:nvSpPr>
        <p:spPr>
          <a:xfrm>
            <a:off x="1349189" y="2379241"/>
            <a:ext cx="869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Covasim</a:t>
            </a:r>
            <a:r>
              <a:rPr lang="zh-CN" altLang="en-US" dirty="0"/>
              <a:t>的数值计算工具。包括病毒载量，传播性和感染计算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229FBB1-B2A8-B8F4-83B2-77E7C89D590B}"/>
              </a:ext>
            </a:extLst>
          </p:cNvPr>
          <p:cNvSpPr/>
          <p:nvPr/>
        </p:nvSpPr>
        <p:spPr>
          <a:xfrm>
            <a:off x="1438836" y="3175741"/>
            <a:ext cx="2814918" cy="70821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compute_viral_load</a:t>
            </a:r>
            <a:endParaRPr lang="en-US" altLang="zh-CN" dirty="0"/>
          </a:p>
          <a:p>
            <a:pPr algn="ctr"/>
            <a:r>
              <a:rPr lang="zh-CN" altLang="en-US" dirty="0"/>
              <a:t>病毒载量计算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91B7491F-899C-3822-E6A7-498DD1630ED2}"/>
              </a:ext>
            </a:extLst>
          </p:cNvPr>
          <p:cNvCxnSpPr>
            <a:cxnSpLocks/>
            <a:stCxn id="12" idx="2"/>
            <a:endCxn id="2" idx="1"/>
          </p:cNvCxnSpPr>
          <p:nvPr/>
        </p:nvCxnSpPr>
        <p:spPr>
          <a:xfrm rot="16200000" flipH="1">
            <a:off x="717857" y="2808866"/>
            <a:ext cx="720299" cy="72165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7B13ACB-FE94-79BD-B508-3644A630F954}"/>
              </a:ext>
            </a:extLst>
          </p:cNvPr>
          <p:cNvSpPr txBox="1"/>
          <p:nvPr/>
        </p:nvSpPr>
        <p:spPr>
          <a:xfrm>
            <a:off x="1438836" y="3957014"/>
            <a:ext cx="45854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传入参数值：</a:t>
            </a:r>
            <a:endParaRPr lang="en-US" altLang="zh-CN" dirty="0"/>
          </a:p>
          <a:p>
            <a:r>
              <a:rPr lang="en-US" altLang="zh-CN" dirty="0"/>
              <a:t>t(</a:t>
            </a:r>
            <a:r>
              <a:rPr lang="zh-CN" altLang="en-US" dirty="0"/>
              <a:t>时间步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time_start</a:t>
            </a:r>
            <a:r>
              <a:rPr lang="en-US" altLang="zh-CN" dirty="0"/>
              <a:t>(</a:t>
            </a:r>
            <a:r>
              <a:rPr lang="zh-CN" altLang="en-US" dirty="0"/>
              <a:t>个体感染时间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time_recovered</a:t>
            </a:r>
            <a:r>
              <a:rPr lang="en-US" altLang="zh-CN" dirty="0"/>
              <a:t>(</a:t>
            </a:r>
            <a:r>
              <a:rPr lang="zh-CN" altLang="en-US" dirty="0"/>
              <a:t>个体恢复时间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time_dead</a:t>
            </a:r>
            <a:r>
              <a:rPr lang="en-US" altLang="zh-CN" dirty="0"/>
              <a:t>(</a:t>
            </a:r>
            <a:r>
              <a:rPr lang="zh-CN" altLang="en-US" dirty="0"/>
              <a:t>个体死亡时间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frac_time</a:t>
            </a:r>
            <a:r>
              <a:rPr lang="en-US" altLang="zh-CN" dirty="0"/>
              <a:t>(</a:t>
            </a:r>
            <a:r>
              <a:rPr lang="zh-CN" altLang="en-US" dirty="0"/>
              <a:t>高载量阶段占感染总时间的比例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load_ratio</a:t>
            </a:r>
            <a:r>
              <a:rPr lang="en-US" altLang="zh-CN" dirty="0"/>
              <a:t>(</a:t>
            </a:r>
            <a:r>
              <a:rPr lang="zh-CN" altLang="en-US" dirty="0"/>
              <a:t>高病毒载量与低病毒载量之比</a:t>
            </a:r>
            <a:r>
              <a:rPr lang="en-US" altLang="zh-CN" dirty="0"/>
              <a:t>);</a:t>
            </a:r>
          </a:p>
          <a:p>
            <a:r>
              <a:rPr lang="en-US" altLang="zh-CN" dirty="0" err="1"/>
              <a:t>high_cap</a:t>
            </a:r>
            <a:r>
              <a:rPr lang="en-US" altLang="zh-CN" dirty="0"/>
              <a:t>(</a:t>
            </a:r>
            <a:r>
              <a:rPr lang="zh-CN" altLang="en-US" dirty="0"/>
              <a:t>高载量阶段的最大允许天数</a:t>
            </a:r>
            <a:r>
              <a:rPr lang="en-US" altLang="zh-CN" dirty="0"/>
              <a:t>).</a:t>
            </a:r>
          </a:p>
          <a:p>
            <a:r>
              <a:rPr lang="zh-CN" altLang="en-US" dirty="0"/>
              <a:t>返回值：</a:t>
            </a:r>
            <a:endParaRPr lang="en-US" altLang="zh-CN" dirty="0"/>
          </a:p>
          <a:p>
            <a:r>
              <a:rPr lang="en-US" altLang="zh-CN" dirty="0"/>
              <a:t>load(</a:t>
            </a:r>
            <a:r>
              <a:rPr lang="zh-CN" altLang="en-US" dirty="0"/>
              <a:t>病毒载量</a:t>
            </a:r>
            <a:r>
              <a:rPr lang="en-US" altLang="zh-CN" dirty="0"/>
              <a:t>).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A28A7-0CB9-17EE-30D2-F0AE4FD6D1AE}"/>
              </a:ext>
            </a:extLst>
          </p:cNvPr>
          <p:cNvSpPr txBox="1"/>
          <p:nvPr/>
        </p:nvSpPr>
        <p:spPr>
          <a:xfrm>
            <a:off x="4712085" y="2955266"/>
            <a:ext cx="50359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从死亡时间和恢复时间中获取结束时间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计算出哪些人会超过上限，以及何时会发生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得到从高到低切换的校正时间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计算病毒载量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病毒载量是通过感染情况的时间来计算出来，而不是作为一个单独的变量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922607-866E-0E2F-6B36-EFA23A308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168" y="2289594"/>
            <a:ext cx="2285714" cy="4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0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B5E3969-D1F8-B520-8247-B4818D63D213}"/>
              </a:ext>
            </a:extLst>
          </p:cNvPr>
          <p:cNvSpPr/>
          <p:nvPr/>
        </p:nvSpPr>
        <p:spPr>
          <a:xfrm>
            <a:off x="685801" y="244282"/>
            <a:ext cx="2814918" cy="70821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compute_trans_sus</a:t>
            </a:r>
            <a:endParaRPr lang="en-US" altLang="zh-CN" dirty="0"/>
          </a:p>
          <a:p>
            <a:pPr algn="ctr"/>
            <a:r>
              <a:rPr lang="zh-CN" altLang="en-US" dirty="0"/>
              <a:t>计算易感性和传播性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88E505-7C7A-A891-A8AE-E6BA418B00E6}"/>
              </a:ext>
            </a:extLst>
          </p:cNvPr>
          <p:cNvSpPr txBox="1"/>
          <p:nvPr/>
        </p:nvSpPr>
        <p:spPr>
          <a:xfrm>
            <a:off x="3989294" y="306161"/>
            <a:ext cx="5035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通过组合病毒载量、症状、隔离、检疫、免疫 等因素，动态计算传播力和易感性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7C3569-F5B9-B087-9311-D264C441ACAA}"/>
              </a:ext>
            </a:extLst>
          </p:cNvPr>
          <p:cNvSpPr txBox="1"/>
          <p:nvPr/>
        </p:nvSpPr>
        <p:spPr>
          <a:xfrm>
            <a:off x="546846" y="1261775"/>
            <a:ext cx="101211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计算调整因子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无症状因子 ：</a:t>
            </a:r>
            <a:r>
              <a:rPr lang="zh-CN" altLang="en-US" dirty="0"/>
              <a:t>有症状传播力不变、无症状传播力乘</a:t>
            </a:r>
            <a:r>
              <a:rPr lang="en-US" altLang="zh-CN" dirty="0" err="1"/>
              <a:t>asymp_factor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隔离因子 ：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未隔离者</a:t>
            </a:r>
            <a:r>
              <a:rPr lang="zh-CN" altLang="en-US" dirty="0"/>
              <a:t>传播力不变、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隔离者</a:t>
            </a:r>
            <a:r>
              <a:rPr lang="zh-CN" altLang="en-US" dirty="0"/>
              <a:t>传播力乘</a:t>
            </a:r>
            <a:r>
              <a:rPr lang="en-US" altLang="zh-CN" dirty="0" err="1"/>
              <a:t>iso_factor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检疫因子：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未检疫者</a:t>
            </a:r>
            <a:r>
              <a:rPr lang="zh-CN" altLang="en-US" dirty="0"/>
              <a:t>传播力不变、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检疫者</a:t>
            </a:r>
            <a:r>
              <a:rPr lang="zh-CN" altLang="en-US" dirty="0"/>
              <a:t>传播力乘</a:t>
            </a:r>
            <a:r>
              <a:rPr lang="en-US" altLang="zh-CN" dirty="0" err="1"/>
              <a:t>quar_factor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计算最终传播力 </a:t>
            </a:r>
            <a:r>
              <a:rPr lang="en-US" altLang="zh-CN" b="1" i="0" dirty="0" err="1">
                <a:solidFill>
                  <a:srgbClr val="404040"/>
                </a:solidFill>
                <a:effectLst/>
                <a:latin typeface="DeepSeek-CJK-patch"/>
              </a:rPr>
              <a:t>rel_trans</a:t>
            </a:r>
            <a:endParaRPr lang="en-US" altLang="zh-CN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传播力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=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基础传播力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感染状态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检疫调整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无症状调整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隔离调整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场景传播率 </a:t>
            </a:r>
            <a:r>
              <a:rPr lang="en-US" altLang="zh-CN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i="0" dirty="0">
                <a:solidFill>
                  <a:srgbClr val="404040"/>
                </a:solidFill>
                <a:effectLst/>
                <a:latin typeface="DeepSeek-CJK-patch"/>
              </a:rPr>
              <a:t>病毒载量。</a:t>
            </a:r>
            <a:endParaRPr lang="en-US" altLang="zh-CN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en-US" altLang="zh-CN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 计算最终易感性 </a:t>
            </a:r>
            <a:r>
              <a:rPr lang="en-US" altLang="zh-CN" b="1" i="0" dirty="0" err="1">
                <a:solidFill>
                  <a:srgbClr val="404040"/>
                </a:solidFill>
                <a:effectLst/>
                <a:latin typeface="DeepSeek-CJK-patch"/>
              </a:rPr>
              <a:t>rel_sus</a:t>
            </a:r>
            <a:endParaRPr lang="zh-CN" altLang="en-US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易感性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=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基础易感性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易感状态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×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检疫调整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× (1 -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免疫水平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)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。</a:t>
            </a:r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返回值</a:t>
            </a:r>
          </a:p>
          <a:p>
            <a:r>
              <a:rPr lang="en-US" altLang="zh-CN" dirty="0" err="1"/>
              <a:t>rel_trans</a:t>
            </a:r>
            <a:r>
              <a:rPr lang="en-US" altLang="zh-CN" dirty="0"/>
              <a:t> (float[])</a:t>
            </a:r>
            <a:r>
              <a:rPr lang="zh-CN" altLang="en-US" dirty="0"/>
              <a:t>：更新后的传播力数组（每个感染者的传播能力）。</a:t>
            </a:r>
          </a:p>
          <a:p>
            <a:endParaRPr lang="zh-CN" altLang="en-US" dirty="0"/>
          </a:p>
          <a:p>
            <a:r>
              <a:rPr lang="en-US" altLang="zh-CN" dirty="0" err="1"/>
              <a:t>rel_sus</a:t>
            </a:r>
            <a:r>
              <a:rPr lang="en-US" altLang="zh-CN" dirty="0"/>
              <a:t> (float[])</a:t>
            </a:r>
            <a:r>
              <a:rPr lang="zh-CN" altLang="en-US" dirty="0"/>
              <a:t>：更新后的易感性数组（每个易感者的感染概率）。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67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FE74B6C-02A0-E076-9A69-6978620E7437}"/>
              </a:ext>
            </a:extLst>
          </p:cNvPr>
          <p:cNvSpPr/>
          <p:nvPr/>
        </p:nvSpPr>
        <p:spPr>
          <a:xfrm>
            <a:off x="685801" y="244282"/>
            <a:ext cx="2814918" cy="70821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compute_infections</a:t>
            </a:r>
            <a:endParaRPr lang="en-US" altLang="zh-CN" dirty="0"/>
          </a:p>
          <a:p>
            <a:pPr algn="ctr"/>
            <a:r>
              <a:rPr lang="zh-CN" altLang="en-US" dirty="0"/>
              <a:t>计算谁感染谁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28926-11CC-CDDD-780B-7CCA30DB18F5}"/>
              </a:ext>
            </a:extLst>
          </p:cNvPr>
          <p:cNvSpPr txBox="1"/>
          <p:nvPr/>
        </p:nvSpPr>
        <p:spPr>
          <a:xfrm>
            <a:off x="685801" y="1130914"/>
            <a:ext cx="50359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输入值：</a:t>
            </a:r>
            <a:endParaRPr lang="en-US" altLang="zh-CN" dirty="0"/>
          </a:p>
          <a:p>
            <a:r>
              <a:rPr lang="en-US" altLang="zh-CN" dirty="0"/>
              <a:t>beta</a:t>
            </a:r>
            <a:r>
              <a:rPr lang="zh-CN" altLang="en-US" dirty="0"/>
              <a:t>：总体传播率</a:t>
            </a:r>
            <a:endParaRPr lang="en-US" altLang="zh-CN" dirty="0"/>
          </a:p>
          <a:p>
            <a:r>
              <a:rPr lang="en-US" altLang="zh-CN" dirty="0"/>
              <a:t>p1:</a:t>
            </a:r>
            <a:r>
              <a:rPr lang="zh-CN" altLang="en-US" dirty="0"/>
              <a:t> </a:t>
            </a:r>
            <a:r>
              <a:rPr lang="en-US" altLang="zh-CN" dirty="0"/>
              <a:t>person1</a:t>
            </a:r>
          </a:p>
          <a:p>
            <a:r>
              <a:rPr lang="en-US" altLang="zh-CN" dirty="0"/>
              <a:t>p2: person2</a:t>
            </a:r>
          </a:p>
          <a:p>
            <a:r>
              <a:rPr lang="en-US" altLang="zh-CN" dirty="0" err="1"/>
              <a:t>layer_betas</a:t>
            </a:r>
            <a:r>
              <a:rPr lang="en-US" altLang="zh-CN" dirty="0"/>
              <a:t>:</a:t>
            </a:r>
            <a:r>
              <a:rPr lang="zh-CN" altLang="en-US" dirty="0"/>
              <a:t>每次接触传播率</a:t>
            </a:r>
            <a:endParaRPr lang="en-US" altLang="zh-CN" dirty="0"/>
          </a:p>
          <a:p>
            <a:r>
              <a:rPr lang="en-US" altLang="zh-CN" dirty="0" err="1"/>
              <a:t>rel_trans</a:t>
            </a:r>
            <a:r>
              <a:rPr lang="en-US" altLang="zh-CN" dirty="0"/>
              <a:t>:</a:t>
            </a:r>
            <a:r>
              <a:rPr lang="zh-CN" altLang="en-US" dirty="0"/>
              <a:t>传播源的相对传播率</a:t>
            </a:r>
            <a:endParaRPr lang="en-US" altLang="zh-CN" dirty="0"/>
          </a:p>
          <a:p>
            <a:r>
              <a:rPr lang="en-US" altLang="zh-CN" dirty="0" err="1"/>
              <a:t>rel_sus</a:t>
            </a:r>
            <a:r>
              <a:rPr lang="zh-CN" altLang="en-US" dirty="0"/>
              <a:t>：易感者的相对易感率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5043EE-EB4B-1E8E-8A63-59F117E7BDD0}"/>
              </a:ext>
            </a:extLst>
          </p:cNvPr>
          <p:cNvSpPr txBox="1"/>
          <p:nvPr/>
        </p:nvSpPr>
        <p:spPr>
          <a:xfrm>
            <a:off x="3810000" y="315999"/>
            <a:ext cx="829235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准备工作：拿出两份名单（</a:t>
            </a:r>
            <a:r>
              <a:rPr lang="en-US" altLang="zh-CN" dirty="0"/>
              <a:t>p1</a:t>
            </a:r>
            <a:r>
              <a:rPr lang="zh-CN" altLang="en-US" dirty="0"/>
              <a:t>和</a:t>
            </a:r>
            <a:r>
              <a:rPr lang="en-US" altLang="zh-CN" dirty="0"/>
              <a:t>p2</a:t>
            </a:r>
            <a:r>
              <a:rPr lang="zh-CN" altLang="en-US" dirty="0"/>
              <a:t>），记录谁可能传染别人（</a:t>
            </a:r>
            <a:r>
              <a:rPr lang="en-US" altLang="zh-CN" dirty="0" err="1"/>
              <a:t>rel_trans</a:t>
            </a:r>
            <a:r>
              <a:rPr lang="zh-CN" altLang="en-US" dirty="0"/>
              <a:t>），谁容易被传染（</a:t>
            </a:r>
            <a:r>
              <a:rPr lang="en-US" altLang="zh-CN" dirty="0" err="1"/>
              <a:t>rel_sus</a:t>
            </a:r>
            <a:r>
              <a:rPr lang="zh-CN" altLang="en-US" dirty="0"/>
              <a:t>），还有不同场合的传染强度（</a:t>
            </a:r>
            <a:r>
              <a:rPr lang="en-US" altLang="zh-CN" dirty="0" err="1"/>
              <a:t>layer_betas</a:t>
            </a:r>
            <a:r>
              <a:rPr lang="zh-CN" altLang="en-US" dirty="0"/>
              <a:t>）。</a:t>
            </a:r>
          </a:p>
          <a:p>
            <a:endParaRPr lang="zh-CN" altLang="en-US" dirty="0"/>
          </a:p>
          <a:p>
            <a:r>
              <a:rPr lang="zh-CN" altLang="en-US" dirty="0"/>
              <a:t>双向检查：</a:t>
            </a:r>
          </a:p>
          <a:p>
            <a:r>
              <a:rPr lang="zh-CN" altLang="en-US" dirty="0"/>
              <a:t>先检查</a:t>
            </a:r>
            <a:r>
              <a:rPr lang="en-US" altLang="zh-CN" dirty="0"/>
              <a:t>p1</a:t>
            </a:r>
            <a:r>
              <a:rPr lang="zh-CN" altLang="en-US" dirty="0"/>
              <a:t>名单里的人会不会传染</a:t>
            </a:r>
            <a:r>
              <a:rPr lang="en-US" altLang="zh-CN" dirty="0"/>
              <a:t>p2</a:t>
            </a:r>
            <a:r>
              <a:rPr lang="zh-CN" altLang="en-US" dirty="0"/>
              <a:t>名单里的人</a:t>
            </a:r>
          </a:p>
          <a:p>
            <a:r>
              <a:rPr lang="zh-CN" altLang="en-US" dirty="0"/>
              <a:t>再反过来检查</a:t>
            </a:r>
            <a:r>
              <a:rPr lang="en-US" altLang="zh-CN" dirty="0"/>
              <a:t>p2</a:t>
            </a:r>
            <a:r>
              <a:rPr lang="zh-CN" altLang="en-US" dirty="0"/>
              <a:t>名单里的人会不会传染</a:t>
            </a:r>
            <a:r>
              <a:rPr lang="en-US" altLang="zh-CN" dirty="0"/>
              <a:t>p1</a:t>
            </a:r>
            <a:r>
              <a:rPr lang="zh-CN" altLang="en-US" dirty="0"/>
              <a:t>名单里的人</a:t>
            </a:r>
          </a:p>
          <a:p>
            <a:r>
              <a:rPr lang="zh-CN" altLang="en-US" dirty="0"/>
              <a:t>（就像你既要担心被同事传染，也要担心传染给同事）</a:t>
            </a:r>
          </a:p>
          <a:p>
            <a:endParaRPr lang="zh-CN" altLang="en-US" dirty="0"/>
          </a:p>
          <a:p>
            <a:r>
              <a:rPr lang="zh-CN" altLang="en-US" dirty="0"/>
              <a:t>过滤筛选：</a:t>
            </a:r>
          </a:p>
          <a:p>
            <a:r>
              <a:rPr lang="zh-CN" altLang="en-US" dirty="0"/>
              <a:t>先去掉不会传染人的</a:t>
            </a:r>
            <a:r>
              <a:rPr lang="en-US" altLang="zh-CN" dirty="0"/>
              <a:t>"</a:t>
            </a:r>
            <a:r>
              <a:rPr lang="zh-CN" altLang="en-US" dirty="0"/>
              <a:t>假传染源</a:t>
            </a:r>
            <a:r>
              <a:rPr lang="en-US" altLang="zh-CN" dirty="0"/>
              <a:t>"</a:t>
            </a:r>
            <a:r>
              <a:rPr lang="zh-CN" altLang="en-US" dirty="0"/>
              <a:t>（比如已经康复的人）</a:t>
            </a:r>
          </a:p>
          <a:p>
            <a:r>
              <a:rPr lang="zh-CN" altLang="en-US" dirty="0"/>
              <a:t>再去掉根本不可能被传染的组合（比如对方有免疫力）</a:t>
            </a:r>
          </a:p>
          <a:p>
            <a:endParaRPr lang="zh-CN" altLang="en-US" dirty="0"/>
          </a:p>
          <a:p>
            <a:r>
              <a:rPr lang="zh-CN" altLang="en-US" dirty="0"/>
              <a:t>掷骰子决定：</a:t>
            </a:r>
          </a:p>
          <a:p>
            <a:r>
              <a:rPr lang="zh-CN" altLang="en-US" dirty="0"/>
              <a:t>对剩下的每个可能的传染组合，用一个随机数（就像掷骰子）来决定：</a:t>
            </a:r>
          </a:p>
          <a:p>
            <a:r>
              <a:rPr lang="zh-CN" altLang="en-US" dirty="0"/>
              <a:t>如果随机数小于计算出的传染概率 → 传染成功</a:t>
            </a:r>
          </a:p>
          <a:p>
            <a:r>
              <a:rPr lang="zh-CN" altLang="en-US" dirty="0"/>
              <a:t>否则 → 这次接触安全</a:t>
            </a:r>
          </a:p>
          <a:p>
            <a:endParaRPr lang="zh-CN" altLang="en-US" dirty="0"/>
          </a:p>
          <a:p>
            <a:r>
              <a:rPr lang="zh-CN" altLang="en-US" dirty="0"/>
              <a:t>记录结果：</a:t>
            </a:r>
          </a:p>
          <a:p>
            <a:r>
              <a:rPr lang="zh-CN" altLang="en-US" dirty="0"/>
              <a:t>把所有成功的传染事件记下来，最后返回两个名单：</a:t>
            </a:r>
          </a:p>
          <a:p>
            <a:r>
              <a:rPr lang="zh-CN" altLang="en-US" dirty="0"/>
              <a:t>谁传染了别人</a:t>
            </a:r>
          </a:p>
          <a:p>
            <a:r>
              <a:rPr lang="zh-CN" altLang="en-US" dirty="0"/>
              <a:t>谁被传染了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204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9139939-8847-A630-807A-025487EC7D2E}"/>
              </a:ext>
            </a:extLst>
          </p:cNvPr>
          <p:cNvSpPr/>
          <p:nvPr/>
        </p:nvSpPr>
        <p:spPr>
          <a:xfrm>
            <a:off x="524437" y="172564"/>
            <a:ext cx="2814918" cy="70821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find_contacts</a:t>
            </a:r>
            <a:endParaRPr lang="en-US" altLang="zh-CN" dirty="0"/>
          </a:p>
          <a:p>
            <a:pPr algn="ctr"/>
            <a:r>
              <a:rPr lang="zh-CN" altLang="en-US" dirty="0"/>
              <a:t>找出确诊者的所有密接者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8F6498-843C-B64B-C40F-81CD7C025E3C}"/>
              </a:ext>
            </a:extLst>
          </p:cNvPr>
          <p:cNvSpPr txBox="1"/>
          <p:nvPr/>
        </p:nvSpPr>
        <p:spPr>
          <a:xfrm>
            <a:off x="524437" y="1100460"/>
            <a:ext cx="50247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输入值：</a:t>
            </a:r>
            <a:endParaRPr lang="en-US" altLang="zh-CN" dirty="0"/>
          </a:p>
          <a:p>
            <a:r>
              <a:rPr lang="en-US" altLang="zh-CN" dirty="0"/>
              <a:t>p1</a:t>
            </a:r>
            <a:r>
              <a:rPr lang="zh-CN" altLang="en-US" dirty="0"/>
              <a:t>、</a:t>
            </a:r>
            <a:r>
              <a:rPr lang="en-US" altLang="zh-CN" dirty="0"/>
              <a:t>p2:</a:t>
            </a:r>
            <a:r>
              <a:rPr lang="zh-CN" altLang="en-US" dirty="0"/>
              <a:t>记录谁和谁接触过的配对名单</a:t>
            </a:r>
            <a:endParaRPr lang="en-US" altLang="zh-CN" dirty="0"/>
          </a:p>
          <a:p>
            <a:r>
              <a:rPr lang="zh-CN" altLang="en-US" dirty="0"/>
              <a:t>如：</a:t>
            </a:r>
            <a:r>
              <a:rPr lang="en-US" altLang="zh-CN" dirty="0"/>
              <a:t>p1 = [1,3,5], p2 = [2,4,1]</a:t>
            </a:r>
          </a:p>
          <a:p>
            <a:r>
              <a:rPr lang="zh-CN" altLang="en-US" dirty="0"/>
              <a:t>（表示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接触过，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接触过，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接触过）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Inds</a:t>
            </a:r>
            <a:r>
              <a:rPr lang="zh-CN" altLang="en-US" dirty="0"/>
              <a:t>：需要排查的</a:t>
            </a:r>
            <a:r>
              <a:rPr lang="en-US" altLang="zh-CN" dirty="0"/>
              <a:t>"</a:t>
            </a:r>
            <a:r>
              <a:rPr lang="zh-CN" altLang="en-US" dirty="0"/>
              <a:t>嫌疑人群</a:t>
            </a:r>
            <a:r>
              <a:rPr lang="en-US" altLang="zh-CN" dirty="0"/>
              <a:t>"</a:t>
            </a:r>
            <a:r>
              <a:rPr lang="zh-CN" altLang="en-US" dirty="0"/>
              <a:t>（比如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那么函数会返回：</a:t>
            </a:r>
            <a:r>
              <a:rPr lang="en-US" altLang="zh-CN" dirty="0"/>
              <a:t>{2,5}</a:t>
            </a:r>
          </a:p>
        </p:txBody>
      </p:sp>
    </p:spTree>
    <p:extLst>
      <p:ext uri="{BB962C8B-B14F-4D97-AF65-F5344CB8AC3E}">
        <p14:creationId xmlns:p14="http://schemas.microsoft.com/office/powerpoint/2010/main" val="54988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E6D7A38-83D2-7E32-3621-56C991E2F1DB}"/>
              </a:ext>
            </a:extLst>
          </p:cNvPr>
          <p:cNvSpPr/>
          <p:nvPr/>
        </p:nvSpPr>
        <p:spPr>
          <a:xfrm>
            <a:off x="367553" y="263571"/>
            <a:ext cx="986118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misc.py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EB76D2-2F8F-FD30-A06B-8F5EAD52309B}"/>
              </a:ext>
            </a:extLst>
          </p:cNvPr>
          <p:cNvSpPr txBox="1"/>
          <p:nvPr/>
        </p:nvSpPr>
        <p:spPr>
          <a:xfrm>
            <a:off x="1550893" y="303022"/>
            <a:ext cx="172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各种辅助功能。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665CCDC-3875-2C7C-2FD2-C40EF2927497}"/>
              </a:ext>
            </a:extLst>
          </p:cNvPr>
          <p:cNvSpPr/>
          <p:nvPr/>
        </p:nvSpPr>
        <p:spPr>
          <a:xfrm>
            <a:off x="367553" y="944889"/>
            <a:ext cx="1183340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setting.py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679A38-D09F-6625-B733-0B3E5BDF54C0}"/>
              </a:ext>
            </a:extLst>
          </p:cNvPr>
          <p:cNvSpPr txBox="1"/>
          <p:nvPr/>
        </p:nvSpPr>
        <p:spPr>
          <a:xfrm>
            <a:off x="1685363" y="984340"/>
            <a:ext cx="1999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设置字体格式等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D25A593-81B3-6EF2-DEDB-27945DC6A130}"/>
              </a:ext>
            </a:extLst>
          </p:cNvPr>
          <p:cNvSpPr/>
          <p:nvPr/>
        </p:nvSpPr>
        <p:spPr>
          <a:xfrm>
            <a:off x="367553" y="1665659"/>
            <a:ext cx="1317810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defaults.py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B541F3-429F-1EE7-E0D1-172BFC8A33A4}"/>
              </a:ext>
            </a:extLst>
          </p:cNvPr>
          <p:cNvSpPr txBox="1"/>
          <p:nvPr/>
        </p:nvSpPr>
        <p:spPr>
          <a:xfrm>
            <a:off x="1855692" y="1705110"/>
            <a:ext cx="243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默认颜色，画图等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16EF169-E27E-B86D-1685-D7E82F77A892}"/>
              </a:ext>
            </a:extLst>
          </p:cNvPr>
          <p:cNvSpPr/>
          <p:nvPr/>
        </p:nvSpPr>
        <p:spPr>
          <a:xfrm>
            <a:off x="367553" y="2425881"/>
            <a:ext cx="1783976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parameters.py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42C37E-A485-EDF5-08E5-F46E10900FAF}"/>
              </a:ext>
            </a:extLst>
          </p:cNvPr>
          <p:cNvSpPr txBox="1"/>
          <p:nvPr/>
        </p:nvSpPr>
        <p:spPr>
          <a:xfrm>
            <a:off x="2268069" y="2465332"/>
            <a:ext cx="7879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用于创建参数字典和加载输入数据的函数，详见思维导图。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4E21F0B-8F1D-48AF-A1B6-67B5FB206FA2}"/>
              </a:ext>
            </a:extLst>
          </p:cNvPr>
          <p:cNvSpPr/>
          <p:nvPr/>
        </p:nvSpPr>
        <p:spPr>
          <a:xfrm>
            <a:off x="367553" y="3146651"/>
            <a:ext cx="1389529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plotting.py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3D5CE8-E123-4CD5-4BF4-8739D8CB8B87}"/>
              </a:ext>
            </a:extLst>
          </p:cNvPr>
          <p:cNvSpPr txBox="1"/>
          <p:nvPr/>
        </p:nvSpPr>
        <p:spPr>
          <a:xfrm>
            <a:off x="1855692" y="30476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补充基于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Matplotlib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的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Sim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和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Scenarios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对象的绘图函数。主要用于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Web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应用。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D6DC8-C1CE-A2A3-13C2-B627A51BE6FF}"/>
              </a:ext>
            </a:extLst>
          </p:cNvPr>
          <p:cNvSpPr/>
          <p:nvPr/>
        </p:nvSpPr>
        <p:spPr>
          <a:xfrm>
            <a:off x="367553" y="3867421"/>
            <a:ext cx="1183340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base.py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060F52-EF77-1F1A-C705-DF5BED034799}"/>
              </a:ext>
            </a:extLst>
          </p:cNvPr>
          <p:cNvSpPr txBox="1"/>
          <p:nvPr/>
        </p:nvSpPr>
        <p:spPr>
          <a:xfrm>
            <a:off x="1757082" y="3906871"/>
            <a:ext cx="1389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辅助工具类</a:t>
            </a:r>
          </a:p>
        </p:txBody>
      </p:sp>
    </p:spTree>
    <p:extLst>
      <p:ext uri="{BB962C8B-B14F-4D97-AF65-F5344CB8AC3E}">
        <p14:creationId xmlns:p14="http://schemas.microsoft.com/office/powerpoint/2010/main" val="1435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30B580D-8D28-AD48-FDF3-9B1B10DB8BBF}"/>
              </a:ext>
            </a:extLst>
          </p:cNvPr>
          <p:cNvSpPr/>
          <p:nvPr/>
        </p:nvSpPr>
        <p:spPr>
          <a:xfrm>
            <a:off x="385483" y="487727"/>
            <a:ext cx="1380564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people.py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B517E6-AE67-BFC4-B006-747B1EB0F0BC}"/>
              </a:ext>
            </a:extLst>
          </p:cNvPr>
          <p:cNvSpPr txBox="1"/>
          <p:nvPr/>
        </p:nvSpPr>
        <p:spPr>
          <a:xfrm>
            <a:off x="1864659" y="487727"/>
            <a:ext cx="79606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People 类，用于处理每个人的状态更新、创建人员和处理状态转换（例如，从易感到感染）相关的函数。</a:t>
            </a:r>
          </a:p>
          <a:p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63A85C-DC2B-EDD2-A2BD-166C33CCE052}"/>
              </a:ext>
            </a:extLst>
          </p:cNvPr>
          <p:cNvSpPr/>
          <p:nvPr/>
        </p:nvSpPr>
        <p:spPr>
          <a:xfrm>
            <a:off x="618565" y="1568823"/>
            <a:ext cx="1380564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people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CA7969-103F-14B1-DD16-D0428B01E00B}"/>
              </a:ext>
            </a:extLst>
          </p:cNvPr>
          <p:cNvSpPr txBox="1"/>
          <p:nvPr/>
        </p:nvSpPr>
        <p:spPr>
          <a:xfrm>
            <a:off x="2259106" y="14729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初始化人员、管理、记录和更新所有个体的状态</a:t>
            </a:r>
            <a:r>
              <a:rPr lang="zh-CN" altLang="en-US" dirty="0"/>
              <a:t>（比如感染、康复、接种、免疫力、抗体水平、接触关系等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13BE51-D2A2-DFE0-7CCE-DF24C4FAF5C0}"/>
              </a:ext>
            </a:extLst>
          </p:cNvPr>
          <p:cNvSpPr txBox="1"/>
          <p:nvPr/>
        </p:nvSpPr>
        <p:spPr>
          <a:xfrm>
            <a:off x="2187389" y="2307563"/>
            <a:ext cx="79606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调用方式</a:t>
            </a:r>
            <a:endParaRPr lang="en-US" altLang="zh-CN" dirty="0"/>
          </a:p>
          <a:p>
            <a:r>
              <a:rPr lang="zh-CN" altLang="en-US" dirty="0"/>
              <a:t>①：</a:t>
            </a:r>
            <a:r>
              <a:rPr lang="en-US" altLang="zh-CN" dirty="0"/>
              <a:t>sim = </a:t>
            </a:r>
            <a:r>
              <a:rPr lang="en-US" altLang="zh-CN" dirty="0" err="1"/>
              <a:t>cv.Sim</a:t>
            </a:r>
            <a:r>
              <a:rPr lang="en-US" altLang="zh-CN" dirty="0"/>
              <a:t>()      </a:t>
            </a:r>
            <a:r>
              <a:rPr lang="zh-CN" altLang="en-US" dirty="0"/>
              <a:t>创建仿真器</a:t>
            </a:r>
          </a:p>
          <a:p>
            <a:r>
              <a:rPr lang="en-US" altLang="zh-CN" dirty="0"/>
              <a:t>ppl1 = </a:t>
            </a:r>
            <a:r>
              <a:rPr lang="en-US" altLang="zh-CN" dirty="0" err="1"/>
              <a:t>cv.people</a:t>
            </a:r>
            <a:r>
              <a:rPr lang="en-US" altLang="zh-CN" dirty="0"/>
              <a:t>(</a:t>
            </a:r>
            <a:r>
              <a:rPr lang="en-US" altLang="zh-CN" dirty="0" err="1"/>
              <a:t>sim.pars</a:t>
            </a:r>
            <a:r>
              <a:rPr lang="en-US" altLang="zh-CN" dirty="0"/>
              <a:t>)  </a:t>
            </a:r>
            <a:r>
              <a:rPr lang="zh-CN" altLang="en-US" dirty="0"/>
              <a:t>这里会自动生成 </a:t>
            </a:r>
            <a:r>
              <a:rPr lang="en-US" altLang="zh-CN" dirty="0"/>
              <a:t>People </a:t>
            </a:r>
            <a:r>
              <a:rPr lang="zh-CN" altLang="en-US" dirty="0"/>
              <a:t>类对象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②：</a:t>
            </a:r>
            <a:r>
              <a:rPr lang="en-US" altLang="zh-CN" dirty="0"/>
              <a:t>ppl2 = </a:t>
            </a:r>
            <a:r>
              <a:rPr lang="en-US" altLang="zh-CN" dirty="0" err="1"/>
              <a:t>cv.People</a:t>
            </a:r>
            <a:r>
              <a:rPr lang="en-US" altLang="zh-CN" dirty="0"/>
              <a:t>(2000) </a:t>
            </a:r>
            <a:r>
              <a:rPr lang="zh-CN" altLang="en-US" dirty="0"/>
              <a:t>直接输入人口规模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初始调用时：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设置当前时间</a:t>
            </a:r>
            <a:r>
              <a:rPr lang="en-US" altLang="zh-CN" dirty="0"/>
              <a:t>t=0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初始化联系关系或者传入空值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简历感染日志表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创建人口属性表 ：设定</a:t>
            </a:r>
            <a:r>
              <a:rPr lang="en-US" altLang="zh-CN" dirty="0"/>
              <a:t>UID</a:t>
            </a:r>
            <a:r>
              <a:rPr lang="zh-CN" altLang="en-US" dirty="0"/>
              <a:t>，以及其他全设为 </a:t>
            </a:r>
            <a:r>
              <a:rPr lang="en-US" altLang="zh-CN" dirty="0"/>
              <a:t>nan</a:t>
            </a:r>
          </a:p>
          <a:p>
            <a:pPr marL="342900" indent="-342900">
              <a:buAutoNum type="arabicPeriod"/>
            </a:pPr>
            <a:r>
              <a:rPr lang="zh-CN" altLang="en-US" dirty="0"/>
              <a:t>设定健康状态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设定变异株感染状态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设定免疫水平、抗体水平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设定日期和持续时间，如感染日、恢复日、死亡日、潜伏期等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初始化感染流转表</a:t>
            </a:r>
            <a:r>
              <a:rPr lang="en-US" altLang="zh-CN" dirty="0"/>
              <a:t> 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649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01606E8-983E-9EF5-EFA3-A85BA3DACB39}"/>
              </a:ext>
            </a:extLst>
          </p:cNvPr>
          <p:cNvSpPr txBox="1"/>
          <p:nvPr/>
        </p:nvSpPr>
        <p:spPr>
          <a:xfrm>
            <a:off x="1398495" y="335845"/>
            <a:ext cx="1121484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感染他人并确定其最终结果。</a:t>
            </a:r>
          </a:p>
          <a:p>
            <a:endParaRPr lang="zh-CN" altLang="en-US" dirty="0"/>
          </a:p>
          <a:p>
            <a:r>
              <a:rPr lang="zh-CN" altLang="en-US" dirty="0"/>
              <a:t>* 每个感染者都可能感染他人，无论其是否出现症状。</a:t>
            </a:r>
          </a:p>
          <a:p>
            <a:r>
              <a:rPr lang="zh-CN" altLang="en-US" dirty="0"/>
              <a:t>* 出现症状的感染者将被分为轻度、重度（=需要住院）和危重（=需要ICU）三种情况。</a:t>
            </a:r>
          </a:p>
          <a:p>
            <a:r>
              <a:rPr lang="zh-CN" altLang="en-US" dirty="0"/>
              <a:t>* 所有无症状、轻度和重度患者都会康复。</a:t>
            </a:r>
          </a:p>
          <a:p>
            <a:r>
              <a:rPr lang="zh-CN" altLang="en-US" dirty="0"/>
              <a:t>* 危重病例要么康复，要么死亡。</a:t>
            </a:r>
          </a:p>
          <a:p>
            <a:r>
              <a:rPr lang="zh-CN" altLang="en-US" dirty="0"/>
              <a:t>* 如果模拟以衰减模式运行，此方法还会设置/更新代理的中和抗体水平。</a:t>
            </a:r>
          </a:p>
          <a:p>
            <a:endParaRPr lang="zh-CN" altLang="en-US" dirty="0"/>
          </a:p>
          <a:p>
            <a:r>
              <a:rPr lang="zh-CN" altLang="en-US" dirty="0"/>
              <a:t>如果一个代理被多次感染，此方法还会对输入数组进行重复数据删除。</a:t>
            </a:r>
          </a:p>
          <a:p>
            <a:r>
              <a:rPr lang="zh-CN" altLang="en-US" dirty="0"/>
              <a:t>并将谁感染了谁存储在infection_log列表中。</a:t>
            </a:r>
          </a:p>
          <a:p>
            <a:endParaRPr lang="zh-CN" altLang="en-US" dirty="0"/>
          </a:p>
          <a:p>
            <a:r>
              <a:rPr lang="zh-CN" altLang="en-US" dirty="0"/>
              <a:t>参数：</a:t>
            </a:r>
          </a:p>
          <a:p>
            <a:r>
              <a:rPr lang="zh-CN" altLang="en-US" dirty="0"/>
              <a:t>inds（数组）：待感染人群的数组</a:t>
            </a:r>
          </a:p>
          <a:p>
            <a:r>
              <a:rPr lang="zh-CN" altLang="en-US" dirty="0"/>
              <a:t>hosp_max（布尔值）：此人是否有可用的急诊病床</a:t>
            </a:r>
          </a:p>
          <a:p>
            <a:r>
              <a:rPr lang="zh-CN" altLang="en-US" dirty="0"/>
              <a:t>icu_max（布尔值）：此人是否有可用的ICU病床</a:t>
            </a:r>
          </a:p>
          <a:p>
            <a:r>
              <a:rPr lang="zh-CN" altLang="en-US" dirty="0"/>
              <a:t>source（数组）：传播此感染的人员的来源索引（如果是输入性感染或种子感染，则为 None）</a:t>
            </a:r>
          </a:p>
          <a:p>
            <a:r>
              <a:rPr lang="zh-CN" altLang="en-US" dirty="0"/>
              <a:t>layer（字符串）：此感染的接触层</a:t>
            </a:r>
          </a:p>
          <a:p>
            <a:r>
              <a:rPr lang="zh-CN" altLang="en-US" dirty="0"/>
              <a:t>variant（整数）：感染者的变体</a:t>
            </a:r>
          </a:p>
          <a:p>
            <a:endParaRPr lang="zh-CN" altLang="en-US" dirty="0"/>
          </a:p>
          <a:p>
            <a:r>
              <a:rPr lang="zh-CN" altLang="en-US" dirty="0"/>
              <a:t>返回：</a:t>
            </a:r>
          </a:p>
          <a:p>
            <a:r>
              <a:rPr lang="zh-CN" altLang="en-US" dirty="0"/>
              <a:t>count（整数）：感染人数</a:t>
            </a:r>
          </a:p>
          <a:p>
            <a:r>
              <a:rPr lang="zh-CN" altLang="en-US" dirty="0"/>
              <a:t>'''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AC8769-28C7-961E-8F5B-92C30BD2940B}"/>
              </a:ext>
            </a:extLst>
          </p:cNvPr>
          <p:cNvSpPr/>
          <p:nvPr/>
        </p:nvSpPr>
        <p:spPr>
          <a:xfrm>
            <a:off x="17931" y="134470"/>
            <a:ext cx="1380564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infect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334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60ECBD6-CE69-8A08-9224-2D48944E7385}"/>
              </a:ext>
            </a:extLst>
          </p:cNvPr>
          <p:cNvSpPr/>
          <p:nvPr/>
        </p:nvSpPr>
        <p:spPr>
          <a:xfrm>
            <a:off x="313764" y="281539"/>
            <a:ext cx="1667435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population.py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77E492-C58C-FAB0-9B86-E787ED7480D3}"/>
              </a:ext>
            </a:extLst>
          </p:cNvPr>
          <p:cNvSpPr txBox="1"/>
          <p:nvPr/>
        </p:nvSpPr>
        <p:spPr>
          <a:xfrm>
            <a:off x="2133600" y="320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创建人群的功能，包括年龄、联系人等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8C99C6C-9BD5-FE44-B341-BBD112D9971E}"/>
              </a:ext>
            </a:extLst>
          </p:cNvPr>
          <p:cNvSpPr/>
          <p:nvPr/>
        </p:nvSpPr>
        <p:spPr>
          <a:xfrm>
            <a:off x="753035" y="950258"/>
            <a:ext cx="1595717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make_people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C4AAC1-C837-3BAE-3C01-10A82817ACF1}"/>
              </a:ext>
            </a:extLst>
          </p:cNvPr>
          <p:cNvSpPr txBox="1"/>
          <p:nvPr/>
        </p:nvSpPr>
        <p:spPr>
          <a:xfrm>
            <a:off x="2528047" y="1040813"/>
            <a:ext cx="85881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根据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sim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里定义的人口类型、人口大小、地点等参数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生成一群虚拟人（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People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对象），并把人口属性（年龄、性别、接触关系等）初始化好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zh-CN" altLang="en-US" dirty="0"/>
              <a:t>最后返回这个 </a:t>
            </a:r>
            <a:r>
              <a:rPr lang="en-US" altLang="zh-CN" dirty="0"/>
              <a:t>People </a:t>
            </a:r>
            <a:r>
              <a:rPr lang="zh-CN" altLang="en-US" dirty="0"/>
              <a:t>实例。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1DBF02-FA9E-7A11-C5FF-2886C95013C8}"/>
              </a:ext>
            </a:extLst>
          </p:cNvPr>
          <p:cNvSpPr/>
          <p:nvPr/>
        </p:nvSpPr>
        <p:spPr>
          <a:xfrm>
            <a:off x="313764" y="3218329"/>
            <a:ext cx="2357716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schedule_quarantine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7072A8-61A4-3799-FC26-B3858344E648}"/>
              </a:ext>
            </a:extLst>
          </p:cNvPr>
          <p:cNvSpPr txBox="1"/>
          <p:nvPr/>
        </p:nvSpPr>
        <p:spPr>
          <a:xfrm>
            <a:off x="2931455" y="2763956"/>
            <a:ext cx="66069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安排隔离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此函数将在 </a:t>
            </a:r>
            <a:r>
              <a:rPr lang="en-US" altLang="zh-CN" b="0" i="0" dirty="0" err="1">
                <a:solidFill>
                  <a:srgbClr val="3C4043"/>
                </a:solidFill>
                <a:effectLst/>
                <a:latin typeface="Roboto"/>
              </a:rPr>
              <a:t>start_date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创建一个请求，要求对人员进行隔离一段时间。到达 </a:t>
            </a:r>
            <a:r>
              <a:rPr lang="en-US" altLang="zh-CN" b="0" i="0" dirty="0" err="1">
                <a:solidFill>
                  <a:srgbClr val="3C4043"/>
                </a:solidFill>
                <a:effectLst/>
                <a:latin typeface="Roboto"/>
              </a:rPr>
              <a:t>start_date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时，将检查他们是否处于现有隔离状态并被延长，或者 他们是否不再符合隔离条件。 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参数： 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en-US" altLang="zh-CN" b="0" i="0" dirty="0" err="1">
                <a:solidFill>
                  <a:srgbClr val="3C4043"/>
                </a:solidFill>
                <a:effectLst/>
                <a:latin typeface="Roboto"/>
              </a:rPr>
              <a:t>inds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 (int)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：隔离人员的索引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en-US" altLang="zh-CN" b="0" i="0" dirty="0" err="1">
                <a:solidFill>
                  <a:srgbClr val="3C4043"/>
                </a:solidFill>
                <a:effectLst/>
                <a:latin typeface="Roboto"/>
              </a:rPr>
              <a:t>start_date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 (int)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：开始隔离的日期</a:t>
            </a:r>
            <a:endParaRPr lang="en-US" altLang="zh-CN" b="0" i="0" dirty="0">
              <a:solidFill>
                <a:srgbClr val="3C4043"/>
              </a:solidFill>
              <a:effectLst/>
              <a:latin typeface="Roboto"/>
            </a:endParaRPr>
          </a:p>
          <a:p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period (int)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：隔离时长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'''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54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E40367-F889-15F0-84E8-DDF2C3417EB3}"/>
              </a:ext>
            </a:extLst>
          </p:cNvPr>
          <p:cNvSpPr/>
          <p:nvPr/>
        </p:nvSpPr>
        <p:spPr>
          <a:xfrm>
            <a:off x="376517" y="712242"/>
            <a:ext cx="2357716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make_randpop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EF7293-9502-FF26-4354-8ED477893991}"/>
              </a:ext>
            </a:extLst>
          </p:cNvPr>
          <p:cNvSpPr txBox="1"/>
          <p:nvPr/>
        </p:nvSpPr>
        <p:spPr>
          <a:xfrm>
            <a:off x="2895598" y="3569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用来生成一个随机人口结构（</a:t>
            </a:r>
            <a:r>
              <a:rPr lang="en-US" altLang="zh-CN" dirty="0" err="1"/>
              <a:t>popdict</a:t>
            </a:r>
            <a:r>
              <a:rPr lang="zh-CN" altLang="en-US" dirty="0"/>
              <a:t>）和对应联系网络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93AABE-354A-30CB-E69B-74AECA6B14B8}"/>
              </a:ext>
            </a:extLst>
          </p:cNvPr>
          <p:cNvSpPr txBox="1"/>
          <p:nvPr/>
        </p:nvSpPr>
        <p:spPr>
          <a:xfrm>
            <a:off x="2895598" y="7174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基于仿真参数，随机生成一组人口的基本属性（</a:t>
            </a:r>
            <a:r>
              <a:rPr lang="en-US" altLang="zh-CN" dirty="0"/>
              <a:t>ID</a:t>
            </a:r>
            <a:r>
              <a:rPr lang="zh-CN" altLang="en-US" dirty="0"/>
              <a:t>、年龄、性别）以及他们在不同“接触层”（比如家庭、工作、社区）内的联系人，并打包成字典返回。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0C5A918-561A-1F05-2B6C-BE3114E5F810}"/>
              </a:ext>
            </a:extLst>
          </p:cNvPr>
          <p:cNvSpPr/>
          <p:nvPr/>
        </p:nvSpPr>
        <p:spPr>
          <a:xfrm>
            <a:off x="376517" y="2097199"/>
            <a:ext cx="2653553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make_random_contacts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27F174-D533-2B05-AB35-9AD0E203A37B}"/>
              </a:ext>
            </a:extLst>
          </p:cNvPr>
          <p:cNvSpPr txBox="1"/>
          <p:nvPr/>
        </p:nvSpPr>
        <p:spPr>
          <a:xfrm>
            <a:off x="3236260" y="200131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给一层联系网络（</a:t>
            </a:r>
            <a:r>
              <a:rPr lang="en-US" altLang="zh-CN" dirty="0"/>
              <a:t>layer</a:t>
            </a:r>
            <a:r>
              <a:rPr lang="zh-CN" altLang="en-US" dirty="0"/>
              <a:t>）生成静态的随机双向联系人对，返回一个“边列表（</a:t>
            </a:r>
            <a:r>
              <a:rPr lang="en-US" altLang="zh-CN" dirty="0" err="1"/>
              <a:t>edgelist</a:t>
            </a:r>
            <a:r>
              <a:rPr lang="zh-CN" altLang="en-US" dirty="0"/>
              <a:t>）”的形式</a:t>
            </a:r>
            <a:endParaRPr lang="en-US" altLang="zh-CN" dirty="0"/>
          </a:p>
          <a:p>
            <a:r>
              <a:rPr lang="zh-CN" altLang="en-US" dirty="0"/>
              <a:t>根据设定的人口数量、平均联系人数、分布形式，给每个个体分配若干随机联系人，生成静态随机联系网络。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1C988AE-B50A-5000-8FAC-C53067CE0B47}"/>
              </a:ext>
            </a:extLst>
          </p:cNvPr>
          <p:cNvSpPr/>
          <p:nvPr/>
        </p:nvSpPr>
        <p:spPr>
          <a:xfrm>
            <a:off x="376517" y="3482156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make_microstructured_contacts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86BC8B-CBB5-909B-F2E7-DC7FBFF0C0ED}"/>
              </a:ext>
            </a:extLst>
          </p:cNvPr>
          <p:cNvSpPr txBox="1"/>
          <p:nvPr/>
        </p:nvSpPr>
        <p:spPr>
          <a:xfrm>
            <a:off x="3236260" y="348215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跟前面 </a:t>
            </a:r>
            <a:r>
              <a:rPr lang="en-US" altLang="zh-CN" dirty="0" err="1"/>
              <a:t>make_random_contacts</a:t>
            </a:r>
            <a:r>
              <a:rPr lang="en-US" altLang="zh-CN" dirty="0"/>
              <a:t>() </a:t>
            </a:r>
            <a:r>
              <a:rPr lang="zh-CN" altLang="en-US" dirty="0"/>
              <a:t>差不多，都是在模拟个体之间的联系网络，但这里是特意为微观结构化（</a:t>
            </a:r>
            <a:r>
              <a:rPr lang="en-US" altLang="zh-CN" dirty="0" err="1"/>
              <a:t>microstructured</a:t>
            </a:r>
            <a:r>
              <a:rPr lang="zh-CN" altLang="en-US" dirty="0"/>
              <a:t>）场景设计的，比如：家庭、宿舍、牢房、小型办公组之类的小团体内部全连接网络。</a:t>
            </a:r>
            <a:endParaRPr lang="en-US" altLang="zh-CN" dirty="0"/>
          </a:p>
          <a:p>
            <a:r>
              <a:rPr lang="zh-CN" altLang="en-US" dirty="0"/>
              <a:t>把总人口划分成若干个“小团体</a:t>
            </a:r>
            <a:r>
              <a:rPr lang="en-US" altLang="zh-CN" dirty="0"/>
              <a:t>/</a:t>
            </a:r>
            <a:r>
              <a:rPr lang="zh-CN" altLang="en-US" dirty="0"/>
              <a:t>小簇”，团体内部的所有人两两相互认识，团体间没有联系。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422312A-73B4-DADE-DEA8-7132357E3662}"/>
              </a:ext>
            </a:extLst>
          </p:cNvPr>
          <p:cNvSpPr/>
          <p:nvPr/>
        </p:nvSpPr>
        <p:spPr>
          <a:xfrm>
            <a:off x="295834" y="5445426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make_hybrid_contacts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96B5EB-8150-F82F-2C94-86A8A6ADF060}"/>
              </a:ext>
            </a:extLst>
          </p:cNvPr>
          <p:cNvSpPr txBox="1"/>
          <p:nvPr/>
        </p:nvSpPr>
        <p:spPr>
          <a:xfrm>
            <a:off x="3119717" y="525898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结合了：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微观结构化（家庭团体内部全连）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随机联系（社区、学校、工作）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简单年龄结构限制（学校</a:t>
            </a:r>
            <a:r>
              <a:rPr lang="en-US" altLang="zh-CN" dirty="0"/>
              <a:t>/</a:t>
            </a:r>
            <a:r>
              <a:rPr lang="zh-CN" altLang="en-US" dirty="0"/>
              <a:t>工作按年龄筛选）</a:t>
            </a:r>
          </a:p>
          <a:p>
            <a:r>
              <a:rPr lang="zh-CN" altLang="en-US" dirty="0"/>
              <a:t>这比纯随机网络或纯团体结构都更贴近真实社会联系模式。</a:t>
            </a:r>
          </a:p>
        </p:txBody>
      </p:sp>
    </p:spTree>
    <p:extLst>
      <p:ext uri="{BB962C8B-B14F-4D97-AF65-F5344CB8AC3E}">
        <p14:creationId xmlns:p14="http://schemas.microsoft.com/office/powerpoint/2010/main" val="257445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9A56169-9884-E0CC-1A89-95948C1D0D27}"/>
              </a:ext>
            </a:extLst>
          </p:cNvPr>
          <p:cNvSpPr/>
          <p:nvPr/>
        </p:nvSpPr>
        <p:spPr>
          <a:xfrm>
            <a:off x="349624" y="229781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make_synthpop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825823-0FDC-493D-69FC-5DA51431438D}"/>
              </a:ext>
            </a:extLst>
          </p:cNvPr>
          <p:cNvSpPr txBox="1"/>
          <p:nvPr/>
        </p:nvSpPr>
        <p:spPr>
          <a:xfrm>
            <a:off x="3128682" y="181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synthpop</a:t>
            </a:r>
            <a:r>
              <a:rPr lang="zh-CN" altLang="en-US" dirty="0"/>
              <a:t>生成一组带有真实社会结构的模拟人口和接触网络。</a:t>
            </a:r>
            <a:endParaRPr lang="en-US" altLang="zh-CN" dirty="0"/>
          </a:p>
          <a:p>
            <a:r>
              <a:rPr lang="en-US" altLang="zh-CN" dirty="0" err="1"/>
              <a:t>SynthPops</a:t>
            </a:r>
            <a:r>
              <a:rPr lang="en-US" altLang="zh-CN" dirty="0"/>
              <a:t> </a:t>
            </a:r>
            <a:r>
              <a:rPr lang="zh-CN" altLang="en-US" dirty="0"/>
              <a:t>是一个用于创建基于家庭、学校、工作场所和社区等结构化社会网络的工具，常用于流行病建模。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6C114F-937A-9B1E-EE8D-34F4E4191BC4}"/>
              </a:ext>
            </a:extLst>
          </p:cNvPr>
          <p:cNvSpPr/>
          <p:nvPr/>
        </p:nvSpPr>
        <p:spPr>
          <a:xfrm>
            <a:off x="233082" y="1653139"/>
            <a:ext cx="1945342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interventions.py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835B3F-828B-D009-B7B1-0754B82EE574}"/>
              </a:ext>
            </a:extLst>
          </p:cNvPr>
          <p:cNvSpPr txBox="1"/>
          <p:nvPr/>
        </p:nvSpPr>
        <p:spPr>
          <a:xfrm>
            <a:off x="2581835" y="16531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C4043"/>
                </a:solidFill>
                <a:effectLst/>
                <a:latin typeface="Roboto"/>
              </a:rPr>
              <a:t>干预类，用于添加干预措施和动态修改参数，以及从中派生出的每个具体干预措施的类。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A11CBD-74CB-7891-0CE8-B5A832C6A194}"/>
              </a:ext>
            </a:extLst>
          </p:cNvPr>
          <p:cNvSpPr/>
          <p:nvPr/>
        </p:nvSpPr>
        <p:spPr>
          <a:xfrm>
            <a:off x="233082" y="2442033"/>
            <a:ext cx="1945342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immunity.py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CBC06F-A60C-894B-8E3D-E60B60ACB360}"/>
              </a:ext>
            </a:extLst>
          </p:cNvPr>
          <p:cNvSpPr txBox="1"/>
          <p:nvPr/>
        </p:nvSpPr>
        <p:spPr>
          <a:xfrm>
            <a:off x="2581835" y="2481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计算免疫力减弱和中和抗体的功能。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50B29D3-F3C3-ACF8-D14D-926DB0E61519}"/>
              </a:ext>
            </a:extLst>
          </p:cNvPr>
          <p:cNvSpPr/>
          <p:nvPr/>
        </p:nvSpPr>
        <p:spPr>
          <a:xfrm>
            <a:off x="233082" y="3302645"/>
            <a:ext cx="1945342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sim.py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70D073-9A7E-607E-548D-B70C598B864E}"/>
              </a:ext>
            </a:extLst>
          </p:cNvPr>
          <p:cNvSpPr txBox="1"/>
          <p:nvPr/>
        </p:nvSpPr>
        <p:spPr>
          <a:xfrm>
            <a:off x="2581835" y="33420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Sim 类，执行大部分繁重的工作：初始化模型、运行和绘图。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47CBD30-CFD8-EEEC-5BDE-344E30F6BAD6}"/>
              </a:ext>
            </a:extLst>
          </p:cNvPr>
          <p:cNvSpPr/>
          <p:nvPr/>
        </p:nvSpPr>
        <p:spPr>
          <a:xfrm>
            <a:off x="233082" y="4163257"/>
            <a:ext cx="1945342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analysis.py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0E6E5F-7D14-0387-2F83-FD8123935DCF}"/>
              </a:ext>
            </a:extLst>
          </p:cNvPr>
          <p:cNvSpPr txBox="1"/>
          <p:nvPr/>
        </p:nvSpPr>
        <p:spPr>
          <a:xfrm>
            <a:off x="2581835" y="414982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Analyzers 类（用于在模拟运行时对其进行分析）、Fit 类（用于计算模型和数据之间的拟合度）、TransTree 类以及其他用于分析模拟的类和函数。</a:t>
            </a:r>
          </a:p>
        </p:txBody>
      </p:sp>
    </p:spTree>
    <p:extLst>
      <p:ext uri="{BB962C8B-B14F-4D97-AF65-F5344CB8AC3E}">
        <p14:creationId xmlns:p14="http://schemas.microsoft.com/office/powerpoint/2010/main" val="28962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CE015A4-7C87-CC96-DAFA-7D5157F5210A}"/>
              </a:ext>
            </a:extLst>
          </p:cNvPr>
          <p:cNvSpPr/>
          <p:nvPr/>
        </p:nvSpPr>
        <p:spPr>
          <a:xfrm>
            <a:off x="177404" y="175661"/>
            <a:ext cx="1667435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调用关系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30CCE5C-D009-58AC-95C7-919C87E5C3EC}"/>
              </a:ext>
            </a:extLst>
          </p:cNvPr>
          <p:cNvSpPr/>
          <p:nvPr/>
        </p:nvSpPr>
        <p:spPr>
          <a:xfrm>
            <a:off x="1214743" y="2086936"/>
            <a:ext cx="1595717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make_people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2904D3-B57B-F398-5E38-E3A07386983D}"/>
              </a:ext>
            </a:extLst>
          </p:cNvPr>
          <p:cNvSpPr txBox="1"/>
          <p:nvPr/>
        </p:nvSpPr>
        <p:spPr>
          <a:xfrm>
            <a:off x="849098" y="3128210"/>
            <a:ext cx="235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sim</a:t>
            </a:r>
            <a:r>
              <a:rPr lang="zh-CN" altLang="en-US" dirty="0"/>
              <a:t>，</a:t>
            </a:r>
            <a:r>
              <a:rPr lang="en-US" altLang="zh-CN" dirty="0" err="1"/>
              <a:t>popdict</a:t>
            </a:r>
            <a:r>
              <a:rPr lang="zh-CN" altLang="en-US" dirty="0"/>
              <a:t>、</a:t>
            </a:r>
            <a:endParaRPr lang="en-US" altLang="zh-CN" dirty="0"/>
          </a:p>
          <a:p>
            <a:r>
              <a:rPr lang="zh-CN" altLang="en-US" dirty="0"/>
              <a:t>输出：</a:t>
            </a:r>
            <a:r>
              <a:rPr lang="en-US" altLang="zh-CN" dirty="0"/>
              <a:t>people</a:t>
            </a:r>
            <a:r>
              <a:rPr lang="zh-CN" altLang="en-US" dirty="0"/>
              <a:t>类对象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E27B3A-2A70-004C-B2F4-C5B47A7230EB}"/>
              </a:ext>
            </a:extLst>
          </p:cNvPr>
          <p:cNvSpPr/>
          <p:nvPr/>
        </p:nvSpPr>
        <p:spPr>
          <a:xfrm>
            <a:off x="4197747" y="2086936"/>
            <a:ext cx="2357716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make_randpop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E9B0FE-B567-BC31-E999-60C34EFE5F1D}"/>
              </a:ext>
            </a:extLst>
          </p:cNvPr>
          <p:cNvSpPr txBox="1"/>
          <p:nvPr/>
        </p:nvSpPr>
        <p:spPr>
          <a:xfrm>
            <a:off x="3898232" y="2934865"/>
            <a:ext cx="5669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par</a:t>
            </a:r>
            <a:r>
              <a:rPr lang="zh-CN" altLang="en-US" dirty="0"/>
              <a:t>字典</a:t>
            </a:r>
            <a:r>
              <a:rPr lang="en-US" altLang="zh-CN" dirty="0"/>
              <a:t>(</a:t>
            </a:r>
            <a:r>
              <a:rPr lang="zh-CN" altLang="en-US" dirty="0"/>
              <a:t>人口数，接触层定义，人均接触数等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输出：</a:t>
            </a:r>
            <a:r>
              <a:rPr lang="en-US" altLang="zh-CN" dirty="0"/>
              <a:t>people</a:t>
            </a:r>
            <a:r>
              <a:rPr lang="zh-CN" altLang="en-US" dirty="0"/>
              <a:t>类对象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B53B67-FAA9-7B7E-A783-6A3A448C4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565" y="3766354"/>
            <a:ext cx="2742857" cy="14666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D61B967-6192-A709-50EC-661C0DC93667}"/>
              </a:ext>
            </a:extLst>
          </p:cNvPr>
          <p:cNvSpPr txBox="1"/>
          <p:nvPr/>
        </p:nvSpPr>
        <p:spPr>
          <a:xfrm>
            <a:off x="3643162" y="5306397"/>
            <a:ext cx="414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h,c</a:t>
            </a:r>
            <a:r>
              <a:rPr lang="zh-CN" altLang="en-US" dirty="0"/>
              <a:t>代表接触层</a:t>
            </a:r>
            <a:r>
              <a:rPr lang="en-US" altLang="zh-CN" dirty="0"/>
              <a:t>,</a:t>
            </a:r>
            <a:r>
              <a:rPr lang="zh-CN" altLang="en-US" dirty="0"/>
              <a:t>后面的是平均连接数</a:t>
            </a:r>
            <a:endParaRPr lang="en-US" altLang="zh-CN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D92389D-C0DC-D4FC-7773-F7E9A0978D38}"/>
              </a:ext>
            </a:extLst>
          </p:cNvPr>
          <p:cNvSpPr/>
          <p:nvPr/>
        </p:nvSpPr>
        <p:spPr>
          <a:xfrm>
            <a:off x="7466798" y="1558510"/>
            <a:ext cx="2653553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make_random_contacts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2506B64-0EDA-00C2-6E72-3B26D38DBC73}"/>
              </a:ext>
            </a:extLst>
          </p:cNvPr>
          <p:cNvSpPr/>
          <p:nvPr/>
        </p:nvSpPr>
        <p:spPr>
          <a:xfrm>
            <a:off x="7364774" y="3357334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make_hybrid_contacts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B3E5785-99D6-0E07-FE73-FAD4115F2964}"/>
              </a:ext>
            </a:extLst>
          </p:cNvPr>
          <p:cNvSpPr/>
          <p:nvPr/>
        </p:nvSpPr>
        <p:spPr>
          <a:xfrm>
            <a:off x="9199228" y="4168575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make_microstructured_contacts</a:t>
            </a:r>
            <a:endParaRPr lang="zh-CN" altLang="en-US" dirty="0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9BB607EE-F2A0-E89B-7B40-7DB68B456A83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810460" y="2362158"/>
            <a:ext cx="138728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E7493B9-CC0B-9F6A-11DE-008FB26B126C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555463" y="1833732"/>
            <a:ext cx="911335" cy="528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988D247-DE3B-1D21-9DFD-FFB3553DD5DE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555463" y="2362158"/>
            <a:ext cx="809311" cy="1270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F374691-F28B-44C3-5B63-1FFA23273B0B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>
            <a:off x="8624315" y="3907777"/>
            <a:ext cx="574913" cy="53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EE500F0-EBAC-92B8-F71B-C6613EE854D5}"/>
              </a:ext>
            </a:extLst>
          </p:cNvPr>
          <p:cNvCxnSpPr>
            <a:stCxn id="14" idx="0"/>
          </p:cNvCxnSpPr>
          <p:nvPr/>
        </p:nvCxnSpPr>
        <p:spPr>
          <a:xfrm flipV="1">
            <a:off x="8624315" y="1811715"/>
            <a:ext cx="307041" cy="154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50C8344-F587-0E60-7889-7ECB7552E47A}"/>
              </a:ext>
            </a:extLst>
          </p:cNvPr>
          <p:cNvSpPr/>
          <p:nvPr/>
        </p:nvSpPr>
        <p:spPr>
          <a:xfrm>
            <a:off x="7785626" y="5346832"/>
            <a:ext cx="2519082" cy="5504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make_synthpop</a:t>
            </a:r>
            <a:endParaRPr lang="zh-CN" altLang="en-US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3EA5A72-5761-F842-55AE-77434D0768F9}"/>
              </a:ext>
            </a:extLst>
          </p:cNvPr>
          <p:cNvCxnSpPr>
            <a:cxnSpLocks/>
            <a:stCxn id="7" idx="3"/>
            <a:endCxn id="57" idx="1"/>
          </p:cNvCxnSpPr>
          <p:nvPr/>
        </p:nvCxnSpPr>
        <p:spPr>
          <a:xfrm>
            <a:off x="6555463" y="2362158"/>
            <a:ext cx="1230163" cy="3259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96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8810CEB-1ACD-589C-C169-4A0DB9A2610D}"/>
              </a:ext>
            </a:extLst>
          </p:cNvPr>
          <p:cNvSpPr/>
          <p:nvPr/>
        </p:nvSpPr>
        <p:spPr>
          <a:xfrm>
            <a:off x="177403" y="175661"/>
            <a:ext cx="2320703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Covasim</a:t>
            </a:r>
            <a:r>
              <a:rPr lang="zh-CN" altLang="en-US" dirty="0"/>
              <a:t>相关论文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B00B222-C3F3-0777-8B41-59A9DE10F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215630"/>
              </p:ext>
            </p:extLst>
          </p:nvPr>
        </p:nvGraphicFramePr>
        <p:xfrm>
          <a:off x="2498107" y="357196"/>
          <a:ext cx="1495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1495313" imgH="533464" progId="Package">
                  <p:embed/>
                </p:oleObj>
              </mc:Choice>
              <mc:Fallback>
                <p:oleObj name="包装程序外壳对象" showAsIcon="1" r:id="rId2" imgW="1495313" imgH="533464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98107" y="357196"/>
                        <a:ext cx="1495425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9D3BF11-6965-09FD-AC34-D1630E471625}"/>
              </a:ext>
            </a:extLst>
          </p:cNvPr>
          <p:cNvSpPr txBox="1"/>
          <p:nvPr/>
        </p:nvSpPr>
        <p:spPr>
          <a:xfrm>
            <a:off x="469231" y="104094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这篇论文基于 </a:t>
            </a:r>
            <a:r>
              <a:rPr lang="en-US" altLang="zh-CN" dirty="0" err="1"/>
              <a:t>Covasim</a:t>
            </a:r>
            <a:r>
              <a:rPr lang="zh-CN" altLang="en-US" dirty="0"/>
              <a:t>，开发了一个叫 </a:t>
            </a:r>
            <a:r>
              <a:rPr lang="en-US" altLang="zh-CN" dirty="0" err="1"/>
              <a:t>ProMES</a:t>
            </a:r>
            <a:r>
              <a:rPr lang="zh-CN" altLang="en-US" dirty="0"/>
              <a:t> 的多智能体疫情仿真系统，专门针对波兰本土化疫情建模，实现了更细致的地理、社会结构和干预措施建模，用于政府决策支持和多情景预测。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7413B5-5A03-B34F-F608-776C7B83EB15}"/>
              </a:ext>
            </a:extLst>
          </p:cNvPr>
          <p:cNvSpPr txBox="1"/>
          <p:nvPr/>
        </p:nvSpPr>
        <p:spPr>
          <a:xfrm>
            <a:off x="469231" y="2309866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扩展了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的人口建模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构建了虚拟人口</a:t>
            </a:r>
            <a:r>
              <a:rPr lang="zh-CN" altLang="en-US" dirty="0"/>
              <a:t>，基于波兰全国和省、市、社区的数据（包括年龄、性别、家庭、工作地点、学校、交通站点等）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通过重构 </a:t>
            </a:r>
            <a:r>
              <a:rPr lang="en-US" altLang="zh-CN" dirty="0"/>
              <a:t>household</a:t>
            </a:r>
            <a:r>
              <a:rPr lang="zh-CN" altLang="en-US" dirty="0"/>
              <a:t>、</a:t>
            </a:r>
            <a:r>
              <a:rPr lang="en-US" altLang="zh-CN" dirty="0"/>
              <a:t>school</a:t>
            </a:r>
            <a:r>
              <a:rPr lang="zh-CN" altLang="en-US" dirty="0"/>
              <a:t>、</a:t>
            </a:r>
            <a:r>
              <a:rPr lang="en-US" altLang="zh-CN" dirty="0"/>
              <a:t>work</a:t>
            </a:r>
            <a:r>
              <a:rPr lang="zh-CN" altLang="en-US" dirty="0"/>
              <a:t>、</a:t>
            </a:r>
            <a:r>
              <a:rPr lang="en-US" altLang="zh-CN" dirty="0"/>
              <a:t>community </a:t>
            </a:r>
            <a:r>
              <a:rPr lang="zh-CN" altLang="en-US" dirty="0"/>
              <a:t>网络层，细化联系网络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创建了多层接触网络</a:t>
            </a:r>
            <a:r>
              <a:rPr lang="zh-CN" altLang="en-US" dirty="0"/>
              <a:t>（</a:t>
            </a:r>
            <a:r>
              <a:rPr lang="en-US" altLang="zh-CN" dirty="0"/>
              <a:t>household</a:t>
            </a:r>
            <a:r>
              <a:rPr lang="zh-CN" altLang="en-US" dirty="0"/>
              <a:t>、</a:t>
            </a:r>
            <a:r>
              <a:rPr lang="en-US" altLang="zh-CN" dirty="0"/>
              <a:t>neighborhood</a:t>
            </a:r>
            <a:r>
              <a:rPr lang="zh-CN" altLang="en-US" dirty="0"/>
              <a:t>、</a:t>
            </a:r>
            <a:r>
              <a:rPr lang="en-US" altLang="zh-CN" dirty="0"/>
              <a:t>public transport</a:t>
            </a:r>
            <a:r>
              <a:rPr lang="zh-CN" altLang="en-US" dirty="0"/>
              <a:t>、</a:t>
            </a:r>
            <a:r>
              <a:rPr lang="en-US" altLang="zh-CN" dirty="0"/>
              <a:t>schools</a:t>
            </a:r>
            <a:r>
              <a:rPr lang="zh-CN" altLang="en-US" dirty="0"/>
              <a:t>、</a:t>
            </a:r>
            <a:r>
              <a:rPr lang="en-US" altLang="zh-CN" dirty="0"/>
              <a:t>workplaces</a:t>
            </a:r>
            <a:r>
              <a:rPr lang="zh-CN" altLang="en-US" dirty="0"/>
              <a:t>、</a:t>
            </a:r>
            <a:r>
              <a:rPr lang="en-US" altLang="zh-CN" dirty="0"/>
              <a:t>shops</a:t>
            </a:r>
            <a:r>
              <a:rPr lang="zh-CN" altLang="en-US" dirty="0"/>
              <a:t>、</a:t>
            </a:r>
            <a:r>
              <a:rPr lang="en-US" altLang="zh-CN" dirty="0"/>
              <a:t>church</a:t>
            </a:r>
            <a:r>
              <a:rPr lang="zh-CN" altLang="en-US" dirty="0"/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EB71DF-8AB9-75D7-7487-86BB7EA6D136}"/>
              </a:ext>
            </a:extLst>
          </p:cNvPr>
          <p:cNvSpPr txBox="1"/>
          <p:nvPr/>
        </p:nvSpPr>
        <p:spPr>
          <a:xfrm>
            <a:off x="382604" y="4448483"/>
            <a:ext cx="6097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改进了模拟初始化方式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不同于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默认随机感染起点</a:t>
            </a:r>
            <a:r>
              <a:rPr lang="zh-CN" altLang="en-US" dirty="0"/>
              <a:t>，</a:t>
            </a:r>
            <a:r>
              <a:rPr lang="en-US" altLang="zh-CN" dirty="0" err="1"/>
              <a:t>ProMES</a:t>
            </a:r>
            <a:r>
              <a:rPr lang="en-US" altLang="zh-CN" dirty="0"/>
              <a:t> </a:t>
            </a:r>
            <a:r>
              <a:rPr lang="zh-CN" altLang="en-US" dirty="0"/>
              <a:t>实现了</a:t>
            </a:r>
            <a:r>
              <a:rPr lang="zh-CN" altLang="en-US" b="1" dirty="0"/>
              <a:t>从已知疫情状态</a:t>
            </a:r>
            <a:r>
              <a:rPr lang="en-US" altLang="zh-CN" b="1" dirty="0"/>
              <a:t>/</a:t>
            </a:r>
            <a:r>
              <a:rPr lang="zh-CN" altLang="en-US" b="1" dirty="0"/>
              <a:t>历史状态</a:t>
            </a:r>
            <a:r>
              <a:rPr lang="zh-CN" altLang="en-US" dirty="0"/>
              <a:t>初始化，加入感染者分布及隐性感染状态（</a:t>
            </a:r>
            <a:r>
              <a:rPr lang="en-US" altLang="zh-CN" dirty="0"/>
              <a:t>asymptomatic</a:t>
            </a:r>
            <a:r>
              <a:rPr lang="zh-CN" altLang="en-US" dirty="0"/>
              <a:t>）建模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实现了</a:t>
            </a:r>
            <a:r>
              <a:rPr lang="zh-CN" altLang="en-US" b="1" dirty="0"/>
              <a:t>仿真状态保存和恢复</a:t>
            </a:r>
            <a:r>
              <a:rPr lang="zh-CN" altLang="en-US" dirty="0"/>
              <a:t>，可以从数据库取历史仿真结果做起点，多场景对比更方便</a:t>
            </a:r>
          </a:p>
        </p:txBody>
      </p:sp>
    </p:spTree>
    <p:extLst>
      <p:ext uri="{BB962C8B-B14F-4D97-AF65-F5344CB8AC3E}">
        <p14:creationId xmlns:p14="http://schemas.microsoft.com/office/powerpoint/2010/main" val="1640795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BB80D60-3029-F2B5-A1A0-1E3810F6EA1D}"/>
              </a:ext>
            </a:extLst>
          </p:cNvPr>
          <p:cNvSpPr txBox="1"/>
          <p:nvPr/>
        </p:nvSpPr>
        <p:spPr>
          <a:xfrm>
            <a:off x="401854" y="169858"/>
            <a:ext cx="6097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调整和重建了病毒传播与病程参数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基于波兰本地数据，</a:t>
            </a:r>
            <a:r>
              <a:rPr lang="zh-CN" altLang="en-US" b="1" dirty="0"/>
              <a:t>自定义了症状发展概率表和死亡率表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调整了</a:t>
            </a:r>
            <a:r>
              <a:rPr lang="zh-CN" altLang="en-US" b="1" dirty="0"/>
              <a:t>无症状感染者的传播能力</a:t>
            </a:r>
            <a:r>
              <a:rPr lang="zh-CN" altLang="en-US" dirty="0"/>
              <a:t>（设定为有症状感染者的 </a:t>
            </a:r>
            <a:r>
              <a:rPr lang="en-US" altLang="zh-CN" dirty="0"/>
              <a:t>75%</a:t>
            </a:r>
            <a:r>
              <a:rPr lang="zh-CN" altLang="en-US" dirty="0"/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保留了 </a:t>
            </a:r>
            <a:r>
              <a:rPr lang="en-US" altLang="zh-CN" dirty="0" err="1"/>
              <a:t>Covasim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state duration </a:t>
            </a:r>
            <a:r>
              <a:rPr lang="zh-CN" altLang="en-US" dirty="0"/>
              <a:t>分布，但重配了症状进展概率和死亡率，更贴合波兰疫情实际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2F90DD-40B4-E5A2-1E6D-C27184EEC17A}"/>
              </a:ext>
            </a:extLst>
          </p:cNvPr>
          <p:cNvSpPr txBox="1"/>
          <p:nvPr/>
        </p:nvSpPr>
        <p:spPr>
          <a:xfrm>
            <a:off x="517358" y="2011483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扩展了非药物干预（</a:t>
            </a:r>
            <a:r>
              <a:rPr lang="en-US" altLang="zh-CN" b="1" dirty="0"/>
              <a:t>NPI</a:t>
            </a:r>
            <a:r>
              <a:rPr lang="zh-CN" altLang="en-US" b="1" dirty="0"/>
              <a:t>）建模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增加了多种干预措施建模功能：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商店、公交、宗教场所人数限制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学校混合教学、居家办公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出行限制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强制口罩、卫生宣传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干预强度也作为参数可调，便于 </a:t>
            </a:r>
            <a:r>
              <a:rPr lang="en-US" altLang="zh-CN" dirty="0"/>
              <a:t>what-if </a:t>
            </a:r>
            <a:r>
              <a:rPr lang="zh-CN" altLang="en-US" dirty="0"/>
              <a:t>场景模拟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88C3AA-1654-D946-7233-2415CD1D0FA4}"/>
              </a:ext>
            </a:extLst>
          </p:cNvPr>
          <p:cNvSpPr txBox="1"/>
          <p:nvPr/>
        </p:nvSpPr>
        <p:spPr>
          <a:xfrm>
            <a:off x="401854" y="4261660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加入详细多指标实时监控和分析功能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每日仿真后，</a:t>
            </a:r>
            <a:r>
              <a:rPr lang="zh-CN" altLang="en-US" b="1" dirty="0"/>
              <a:t>统计大约 </a:t>
            </a:r>
            <a:r>
              <a:rPr lang="en-US" altLang="zh-CN" b="1" dirty="0"/>
              <a:t>30 </a:t>
            </a:r>
            <a:r>
              <a:rPr lang="zh-CN" altLang="en-US" b="1" dirty="0"/>
              <a:t>项指标</a:t>
            </a:r>
            <a:r>
              <a:rPr lang="zh-CN" altLang="en-US" dirty="0"/>
              <a:t>（新病例数、现存病例、累计病例、死亡数、社区感染率等）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按省、市、社区粒度</a:t>
            </a:r>
            <a:r>
              <a:rPr lang="zh-CN" altLang="en-US" dirty="0"/>
              <a:t>生成报告，存入数据库，供可视化界面 </a:t>
            </a:r>
            <a:r>
              <a:rPr lang="en-US" altLang="zh-CN" dirty="0"/>
              <a:t>API </a:t>
            </a:r>
            <a:r>
              <a:rPr lang="zh-CN" altLang="en-US" dirty="0"/>
              <a:t>调用展示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A5E9E-41D7-A2E3-5B80-A6588430FBEE}"/>
              </a:ext>
            </a:extLst>
          </p:cNvPr>
          <p:cNvSpPr txBox="1"/>
          <p:nvPr/>
        </p:nvSpPr>
        <p:spPr>
          <a:xfrm>
            <a:off x="6205888" y="4261660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实现大规模仿真优化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单层 </a:t>
            </a:r>
            <a:r>
              <a:rPr lang="en-US" altLang="zh-CN" dirty="0"/>
              <a:t>3800 </a:t>
            </a:r>
            <a:r>
              <a:rPr lang="zh-CN" altLang="en-US" dirty="0"/>
              <a:t>万人口仿真耗时 </a:t>
            </a:r>
            <a:r>
              <a:rPr lang="en-US" altLang="zh-CN" dirty="0"/>
              <a:t>140 </a:t>
            </a:r>
            <a:r>
              <a:rPr lang="zh-CN" altLang="en-US" dirty="0"/>
              <a:t>分钟，后续每多一层多 </a:t>
            </a:r>
            <a:r>
              <a:rPr lang="en-US" altLang="zh-CN" dirty="0"/>
              <a:t>5 </a:t>
            </a:r>
            <a:r>
              <a:rPr lang="zh-CN" altLang="en-US" dirty="0"/>
              <a:t>分钟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单省（马佐夫舍省 </a:t>
            </a:r>
            <a:r>
              <a:rPr lang="en-US" altLang="zh-CN" dirty="0"/>
              <a:t>540 </a:t>
            </a:r>
            <a:r>
              <a:rPr lang="zh-CN" altLang="en-US" dirty="0"/>
              <a:t>万人口）仿真 </a:t>
            </a:r>
            <a:r>
              <a:rPr lang="en-US" altLang="zh-CN" dirty="0"/>
              <a:t>6 </a:t>
            </a:r>
            <a:r>
              <a:rPr lang="zh-CN" altLang="en-US" dirty="0"/>
              <a:t>层耗时 </a:t>
            </a:r>
            <a:r>
              <a:rPr lang="en-US" altLang="zh-CN" dirty="0"/>
              <a:t>24 </a:t>
            </a:r>
            <a:r>
              <a:rPr lang="zh-CN" altLang="en-US" dirty="0"/>
              <a:t>分钟，内存峰值 </a:t>
            </a:r>
            <a:r>
              <a:rPr lang="en-US" altLang="zh-CN" dirty="0"/>
              <a:t>32GB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优化内存占用，做到百万量级仿真可控，预估 </a:t>
            </a:r>
            <a:r>
              <a:rPr lang="en-US" altLang="zh-CN" dirty="0"/>
              <a:t>1TB </a:t>
            </a:r>
            <a:r>
              <a:rPr lang="zh-CN" altLang="en-US" dirty="0"/>
              <a:t>内存能支持 </a:t>
            </a:r>
            <a:r>
              <a:rPr lang="en-US" altLang="zh-CN" dirty="0"/>
              <a:t>1.5 </a:t>
            </a:r>
            <a:r>
              <a:rPr lang="zh-CN" altLang="en-US" dirty="0"/>
              <a:t>亿人口仿真</a:t>
            </a:r>
          </a:p>
        </p:txBody>
      </p:sp>
    </p:spTree>
    <p:extLst>
      <p:ext uri="{BB962C8B-B14F-4D97-AF65-F5344CB8AC3E}">
        <p14:creationId xmlns:p14="http://schemas.microsoft.com/office/powerpoint/2010/main" val="25329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FA7A0B2-6230-EAD9-2C2C-0C5FFE417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55" y="129124"/>
            <a:ext cx="5147563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总结：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基于 Covasim 定制化开发了 ProMES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重建了波兰本地化人口和接触网络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本地化病毒传播参数和病程模型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增强 NPI 干预措施、状态保存、多场景对比功能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支持大规模国家级仿真，服务政府决策支持</a:t>
            </a:r>
          </a:p>
        </p:txBody>
      </p:sp>
    </p:spTree>
    <p:extLst>
      <p:ext uri="{BB962C8B-B14F-4D97-AF65-F5344CB8AC3E}">
        <p14:creationId xmlns:p14="http://schemas.microsoft.com/office/powerpoint/2010/main" val="2428939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342D239-D826-6CD0-055D-1905136F5AF3}"/>
              </a:ext>
            </a:extLst>
          </p:cNvPr>
          <p:cNvSpPr/>
          <p:nvPr/>
        </p:nvSpPr>
        <p:spPr>
          <a:xfrm>
            <a:off x="177403" y="175661"/>
            <a:ext cx="2320703" cy="448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Covasim</a:t>
            </a:r>
            <a:r>
              <a:rPr lang="zh-CN" altLang="en-US" dirty="0"/>
              <a:t>相关论文</a:t>
            </a:r>
            <a:r>
              <a:rPr lang="en-US" altLang="zh-CN" dirty="0"/>
              <a:t>2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6EFDEA7-050A-C494-77C1-5B262FD584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272740"/>
              </p:ext>
            </p:extLst>
          </p:nvPr>
        </p:nvGraphicFramePr>
        <p:xfrm>
          <a:off x="2719990" y="256156"/>
          <a:ext cx="1428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1428685" imgH="533464" progId="Package">
                  <p:embed/>
                </p:oleObj>
              </mc:Choice>
              <mc:Fallback>
                <p:oleObj name="包装程序外壳对象" showAsIcon="1" r:id="rId2" imgW="1428685" imgH="533464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9990" y="256156"/>
                        <a:ext cx="142875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A3FB928-DB70-9325-F247-ECB9AE9DB9BB}"/>
              </a:ext>
            </a:extLst>
          </p:cNvPr>
          <p:cNvSpPr txBox="1"/>
          <p:nvPr/>
        </p:nvSpPr>
        <p:spPr>
          <a:xfrm>
            <a:off x="385563" y="789556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这篇论文用 </a:t>
            </a:r>
            <a:r>
              <a:rPr lang="en-US" altLang="zh-CN" dirty="0" err="1"/>
              <a:t>Covasim</a:t>
            </a:r>
            <a:r>
              <a:rPr lang="en-US" altLang="zh-CN" dirty="0"/>
              <a:t> </a:t>
            </a:r>
            <a:r>
              <a:rPr lang="zh-CN" altLang="en-US" dirty="0"/>
              <a:t>对</a:t>
            </a:r>
            <a:r>
              <a:rPr lang="zh-CN" altLang="en-US" b="1" dirty="0"/>
              <a:t>俄罗斯圣彼得堡市的 </a:t>
            </a:r>
            <a:r>
              <a:rPr lang="en-US" altLang="zh-CN" b="1" dirty="0"/>
              <a:t>COVID-19 </a:t>
            </a:r>
            <a:r>
              <a:rPr lang="zh-CN" altLang="en-US" b="1" dirty="0"/>
              <a:t>疫情进行了回顾性分析和预测试验</a:t>
            </a:r>
            <a:r>
              <a:rPr lang="zh-CN" altLang="en-US" dirty="0"/>
              <a:t>，并和作者自研的多智能体模型进行了对比，评估了 </a:t>
            </a:r>
            <a:r>
              <a:rPr lang="en-US" altLang="zh-CN" dirty="0" err="1"/>
              <a:t>Covasim</a:t>
            </a:r>
            <a:r>
              <a:rPr lang="en-US" altLang="zh-CN" dirty="0"/>
              <a:t> </a:t>
            </a:r>
            <a:r>
              <a:rPr lang="zh-CN" altLang="en-US" dirty="0"/>
              <a:t>在本地化仿真、性能和拟合效果上的表现与局限。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6767B2-1473-EAB8-32E0-4C5DEF0BF3ED}"/>
              </a:ext>
            </a:extLst>
          </p:cNvPr>
          <p:cNvSpPr txBox="1"/>
          <p:nvPr/>
        </p:nvSpPr>
        <p:spPr>
          <a:xfrm>
            <a:off x="385563" y="1989885"/>
            <a:ext cx="60976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使用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建立本地化人口接触网络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利用</a:t>
            </a:r>
            <a:r>
              <a:rPr lang="en-US" altLang="zh-CN" b="1" dirty="0" err="1"/>
              <a:t>SynthPops</a:t>
            </a:r>
            <a:r>
              <a:rPr lang="zh-CN" altLang="en-US" dirty="0"/>
              <a:t> 和</a:t>
            </a:r>
            <a:r>
              <a:rPr lang="zh-CN" altLang="en-US" b="1" dirty="0"/>
              <a:t>本地统计数据</a:t>
            </a:r>
            <a:r>
              <a:rPr lang="zh-CN" altLang="en-US" dirty="0"/>
              <a:t>（俄罗斯政府公开数据、</a:t>
            </a:r>
            <a:r>
              <a:rPr lang="en-US" altLang="zh-CN" dirty="0"/>
              <a:t>OpenStreetMap</a:t>
            </a:r>
            <a:r>
              <a:rPr lang="zh-CN" altLang="en-US" dirty="0"/>
              <a:t>、</a:t>
            </a:r>
            <a:r>
              <a:rPr lang="en-US" altLang="zh-CN" dirty="0"/>
              <a:t>Yandex API</a:t>
            </a:r>
            <a:r>
              <a:rPr lang="zh-CN" altLang="en-US" dirty="0"/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构建了 </a:t>
            </a:r>
            <a:r>
              <a:rPr lang="en-US" altLang="zh-CN" dirty="0"/>
              <a:t>500 </a:t>
            </a:r>
            <a:r>
              <a:rPr lang="zh-CN" altLang="en-US" dirty="0"/>
              <a:t>万人口的</a:t>
            </a:r>
            <a:r>
              <a:rPr lang="zh-CN" altLang="en-US" b="1" dirty="0"/>
              <a:t>家庭、学校、工作场所</a:t>
            </a:r>
            <a:r>
              <a:rPr lang="zh-CN" altLang="en-US" dirty="0"/>
              <a:t>接触网络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对比了两种人口网络：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基于推断日常活动模式的接触网络</a:t>
            </a:r>
            <a:r>
              <a:rPr lang="zh-CN" altLang="en-US" dirty="0"/>
              <a:t>（复杂定制，接近真实）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随机接触网络</a:t>
            </a:r>
            <a:r>
              <a:rPr lang="zh-CN" altLang="en-US" dirty="0"/>
              <a:t>（简化版本）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1FEA09-D9F0-00B9-6613-9328BE5A8FDA}"/>
              </a:ext>
            </a:extLst>
          </p:cNvPr>
          <p:cNvSpPr txBox="1"/>
          <p:nvPr/>
        </p:nvSpPr>
        <p:spPr>
          <a:xfrm>
            <a:off x="385563" y="4406451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利用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模拟疫情传播过程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设置初始感染人数、非免疫比例、传播系数等参数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执行</a:t>
            </a:r>
            <a:r>
              <a:rPr lang="zh-CN" altLang="en-US" b="1" dirty="0"/>
              <a:t>多轮模拟</a:t>
            </a:r>
            <a:r>
              <a:rPr lang="zh-CN" altLang="en-US" dirty="0"/>
              <a:t>，记录每日感染人数变化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利用 </a:t>
            </a:r>
            <a:r>
              <a:rPr lang="en-US" altLang="zh-CN" dirty="0" err="1"/>
              <a:t>Covasim</a:t>
            </a:r>
            <a:r>
              <a:rPr lang="zh-CN" altLang="en-US" dirty="0"/>
              <a:t>控制感染传播率和人群免疫水平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3865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14778F4-5F73-F97D-4F66-3D9F0DF924A2}"/>
              </a:ext>
            </a:extLst>
          </p:cNvPr>
          <p:cNvSpPr txBox="1"/>
          <p:nvPr/>
        </p:nvSpPr>
        <p:spPr>
          <a:xfrm>
            <a:off x="594360" y="299798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基于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做疫情预测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使用拟合较好的模型预测疫情后续趋势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分析预测区间和不确定性（预测区间</a:t>
            </a:r>
            <a:r>
              <a:rPr lang="en-US" altLang="zh-CN" dirty="0"/>
              <a:t>=</a:t>
            </a:r>
            <a:r>
              <a:rPr lang="zh-CN" altLang="en-US" dirty="0"/>
              <a:t>最大</a:t>
            </a:r>
            <a:r>
              <a:rPr lang="en-US" altLang="zh-CN" dirty="0"/>
              <a:t>-</a:t>
            </a:r>
            <a:r>
              <a:rPr lang="zh-CN" altLang="en-US" dirty="0"/>
              <a:t>最小病例数范围）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164C14-2E9E-F982-EF19-5696FD422D40}"/>
              </a:ext>
            </a:extLst>
          </p:cNvPr>
          <p:cNvSpPr txBox="1"/>
          <p:nvPr/>
        </p:nvSpPr>
        <p:spPr>
          <a:xfrm>
            <a:off x="594360" y="1500127"/>
            <a:ext cx="6097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评估 </a:t>
            </a:r>
            <a:r>
              <a:rPr lang="en-US" altLang="zh-CN" b="1" dirty="0" err="1"/>
              <a:t>Covasim</a:t>
            </a:r>
            <a:r>
              <a:rPr lang="en-US" altLang="zh-CN" b="1" dirty="0"/>
              <a:t> </a:t>
            </a:r>
            <a:r>
              <a:rPr lang="zh-CN" altLang="en-US" b="1" dirty="0"/>
              <a:t>模型性能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记录不同配置下的单次仿真耗时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比较不同人口规模（</a:t>
            </a:r>
            <a:r>
              <a:rPr lang="en-US" altLang="zh-CN" dirty="0"/>
              <a:t>500 </a:t>
            </a:r>
            <a:r>
              <a:rPr lang="zh-CN" altLang="en-US" dirty="0"/>
              <a:t>万 </a:t>
            </a:r>
            <a:r>
              <a:rPr lang="en-US" altLang="zh-CN" dirty="0"/>
              <a:t>vs 50 </a:t>
            </a:r>
            <a:r>
              <a:rPr lang="zh-CN" altLang="en-US" dirty="0"/>
              <a:t>万）对速度和拟合度的影响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发现</a:t>
            </a:r>
            <a:r>
              <a:rPr lang="zh-CN" altLang="en-US" b="1" dirty="0"/>
              <a:t>缩减 </a:t>
            </a:r>
            <a:r>
              <a:rPr lang="en-US" altLang="zh-CN" b="1" dirty="0"/>
              <a:t>10 </a:t>
            </a:r>
            <a:r>
              <a:rPr lang="zh-CN" altLang="en-US" b="1" dirty="0"/>
              <a:t>倍人口规模后，拟合度（</a:t>
            </a:r>
            <a:r>
              <a:rPr lang="en-US" altLang="zh-CN" b="1" dirty="0"/>
              <a:t>R²</a:t>
            </a:r>
            <a:r>
              <a:rPr lang="zh-CN" altLang="en-US" b="1" dirty="0"/>
              <a:t>）反而提高，且耗时骤降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440FC75-3E1E-C80E-EED0-42A1D7BE7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54453"/>
            <a:ext cx="6904762" cy="2028571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D14EB62-7BBF-4731-3F2E-7DD3B2965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339" y="3737083"/>
            <a:ext cx="40384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Covasim 在本地化定制接触网络时资源消耗极高，拟合效果欠佳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，但在简化网络和降低人口规模后，拟合效果反而变好，且仿真速度大幅提升。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02B5A1-5592-FF9A-AF8C-25C35E64AB3D}"/>
              </a:ext>
            </a:extLst>
          </p:cNvPr>
          <p:cNvSpPr txBox="1"/>
          <p:nvPr/>
        </p:nvSpPr>
        <p:spPr>
          <a:xfrm>
            <a:off x="788590" y="5491932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这篇论文用 </a:t>
            </a:r>
            <a:r>
              <a:rPr lang="en-US" altLang="zh-CN" dirty="0" err="1"/>
              <a:t>Covasim</a:t>
            </a:r>
            <a:r>
              <a:rPr lang="en-US" altLang="zh-CN" dirty="0"/>
              <a:t> </a:t>
            </a:r>
            <a:r>
              <a:rPr lang="zh-CN" altLang="en-US" dirty="0"/>
              <a:t>完成了</a:t>
            </a:r>
            <a:r>
              <a:rPr lang="zh-CN" altLang="en-US" b="1" dirty="0"/>
              <a:t>圣彼得堡 </a:t>
            </a:r>
            <a:r>
              <a:rPr lang="en-US" altLang="zh-CN" b="1" dirty="0"/>
              <a:t>COVID-19 </a:t>
            </a:r>
            <a:r>
              <a:rPr lang="zh-CN" altLang="en-US" b="1" dirty="0"/>
              <a:t>回顾性建模、参数拟合、趋势预测和模型性能评估</a:t>
            </a:r>
            <a:r>
              <a:rPr lang="zh-CN" altLang="en-US" dirty="0"/>
              <a:t>，并和自研多智能体模型做了全面对比，评估了 </a:t>
            </a:r>
            <a:r>
              <a:rPr lang="en-US" altLang="zh-CN" dirty="0" err="1"/>
              <a:t>Covasim</a:t>
            </a:r>
            <a:r>
              <a:rPr lang="en-US" altLang="zh-CN" dirty="0"/>
              <a:t> </a:t>
            </a:r>
            <a:r>
              <a:rPr lang="zh-CN" altLang="en-US" dirty="0"/>
              <a:t>的实用性和局限性。</a:t>
            </a:r>
          </a:p>
        </p:txBody>
      </p:sp>
    </p:spTree>
    <p:extLst>
      <p:ext uri="{BB962C8B-B14F-4D97-AF65-F5344CB8AC3E}">
        <p14:creationId xmlns:p14="http://schemas.microsoft.com/office/powerpoint/2010/main" val="81114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4492</TotalTime>
  <Words>2683</Words>
  <Application>Microsoft Office PowerPoint</Application>
  <PresentationFormat>宽屏</PresentationFormat>
  <Paragraphs>257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DeepSeek-CJK-patch</vt:lpstr>
      <vt:lpstr>Roboto</vt:lpstr>
      <vt:lpstr>等线</vt:lpstr>
      <vt:lpstr>等线 Light</vt:lpstr>
      <vt:lpstr>Arial</vt:lpstr>
      <vt:lpstr>Helvetica</vt:lpstr>
      <vt:lpstr>Office 主题​​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shirui li</dc:creator>
  <cp:lastModifiedBy>shirui li</cp:lastModifiedBy>
  <cp:revision>4</cp:revision>
  <dcterms:created xsi:type="dcterms:W3CDTF">2025-05-06T08:00:14Z</dcterms:created>
  <dcterms:modified xsi:type="dcterms:W3CDTF">2025-05-14T05:45:04Z</dcterms:modified>
</cp:coreProperties>
</file>